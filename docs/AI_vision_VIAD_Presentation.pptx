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6" r:id="rId4"/>
    <p:sldId id="258" r:id="rId5"/>
    <p:sldId id="259" r:id="rId6"/>
    <p:sldId id="260" r:id="rId7"/>
    <p:sldId id="277" r:id="rId8"/>
    <p:sldId id="261" r:id="rId9"/>
    <p:sldId id="262" r:id="rId10"/>
    <p:sldId id="263" r:id="rId11"/>
    <p:sldId id="264" r:id="rId12"/>
    <p:sldId id="279" r:id="rId13"/>
    <p:sldId id="265" r:id="rId14"/>
    <p:sldId id="266" r:id="rId15"/>
    <p:sldId id="267" r:id="rId16"/>
    <p:sldId id="278" r:id="rId17"/>
    <p:sldId id="268" r:id="rId18"/>
    <p:sldId id="269" r:id="rId19"/>
    <p:sldId id="270" r:id="rId20"/>
    <p:sldId id="271" r:id="rId21"/>
    <p:sldId id="272" r:id="rId22"/>
    <p:sldId id="275" r:id="rId23"/>
  </p:sldIdLst>
  <p:sldSz cx="9144000" cy="5143500" type="screen16x9"/>
  <p:notesSz cx="51435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9" autoAdjust="0"/>
    <p:restoredTop sz="56695" autoAdjust="0"/>
  </p:normalViewPr>
  <p:slideViewPr>
    <p:cSldViewPr snapToGrid="0">
      <p:cViewPr varScale="1">
        <p:scale>
          <a:sx n="84" d="100"/>
          <a:sy n="84" d="100"/>
        </p:scale>
        <p:origin x="9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ريان سعد محمد التويجرى" userId="020bb9bf-e47b-49a7-910c-08cfa9a952bc" providerId="ADAL" clId="{5F48012C-F858-4A72-826B-AB8D8683EA05}"/>
    <pc:docChg chg="undo redo custSel modSld">
      <pc:chgData name="ريان سعد محمد التويجرى" userId="020bb9bf-e47b-49a7-910c-08cfa9a952bc" providerId="ADAL" clId="{5F48012C-F858-4A72-826B-AB8D8683EA05}" dt="2026-06-11T09:27:52.515" v="64" actId="20577"/>
      <pc:docMkLst>
        <pc:docMk/>
      </pc:docMkLst>
      <pc:sldChg chg="modNotesTx">
        <pc:chgData name="ريان سعد محمد التويجرى" userId="020bb9bf-e47b-49a7-910c-08cfa9a952bc" providerId="ADAL" clId="{5F48012C-F858-4A72-826B-AB8D8683EA05}" dt="2026-06-07T16:55:26.493" v="13" actId="20577"/>
        <pc:sldMkLst>
          <pc:docMk/>
          <pc:sldMk cId="0" sldId="256"/>
        </pc:sldMkLst>
      </pc:sldChg>
      <pc:sldChg chg="modSp mod modNotesTx">
        <pc:chgData name="ريان سعد محمد التويجرى" userId="020bb9bf-e47b-49a7-910c-08cfa9a952bc" providerId="ADAL" clId="{5F48012C-F858-4A72-826B-AB8D8683EA05}" dt="2026-06-07T17:08:26.694" v="56" actId="1076"/>
        <pc:sldMkLst>
          <pc:docMk/>
          <pc:sldMk cId="0" sldId="257"/>
        </pc:sldMkLst>
        <pc:spChg chg="mod">
          <ac:chgData name="ريان سعد محمد التويجرى" userId="020bb9bf-e47b-49a7-910c-08cfa9a952bc" providerId="ADAL" clId="{5F48012C-F858-4A72-826B-AB8D8683EA05}" dt="2026-06-07T17:08:26.694" v="56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ريان سعد محمد التويجرى" userId="020bb9bf-e47b-49a7-910c-08cfa9a952bc" providerId="ADAL" clId="{5F48012C-F858-4A72-826B-AB8D8683EA05}" dt="2026-06-07T17:07:59.228" v="53" actId="1036"/>
          <ac:spMkLst>
            <pc:docMk/>
            <pc:sldMk cId="0" sldId="257"/>
            <ac:spMk id="70" creationId="{00000000-0000-0000-0000-000000000000}"/>
          </ac:spMkLst>
        </pc:sp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5" creationId="{F1219358-4628-E4C6-ECCA-443CD4CE15FF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8" creationId="{E02A6A0B-5DC7-971A-2DFA-BE5755DD74BE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10" creationId="{59EC588F-4848-2A42-5920-3F0A172884D8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12" creationId="{613F227A-659F-7A76-FBA1-4B9815925350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14" creationId="{5F9215FC-7A68-242D-8D4C-A56F4C1FB478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16" creationId="{2AE5773B-A4DC-6537-9A37-01688CD3AD85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5:08.935" v="39" actId="339"/>
          <ac:graphicFrameMkLst>
            <pc:docMk/>
            <pc:sldMk cId="0" sldId="257"/>
            <ac:graphicFrameMk id="18" creationId="{BDC74FCF-3C05-1C42-528C-1B9E88DFC03B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8:16.412" v="55" actId="1076"/>
          <ac:graphicFrameMkLst>
            <pc:docMk/>
            <pc:sldMk cId="0" sldId="257"/>
            <ac:graphicFrameMk id="20" creationId="{D7A26813-5D26-DDF6-F76F-584E8EC739C4}"/>
          </ac:graphicFrameMkLst>
        </pc:graphicFrameChg>
      </pc:sldChg>
      <pc:sldChg chg="modNotesTx">
        <pc:chgData name="ريان سعد محمد التويجرى" userId="020bb9bf-e47b-49a7-910c-08cfa9a952bc" providerId="ADAL" clId="{5F48012C-F858-4A72-826B-AB8D8683EA05}" dt="2026-06-07T16:55:36.232" v="16" actId="20577"/>
        <pc:sldMkLst>
          <pc:docMk/>
          <pc:sldMk cId="0" sldId="258"/>
        </pc:sldMkLst>
      </pc:sldChg>
      <pc:sldChg chg="modNotesTx">
        <pc:chgData name="ريان سعد محمد التويجرى" userId="020bb9bf-e47b-49a7-910c-08cfa9a952bc" providerId="ADAL" clId="{5F48012C-F858-4A72-826B-AB8D8683EA05}" dt="2026-06-07T16:55:42.370" v="17" actId="20577"/>
        <pc:sldMkLst>
          <pc:docMk/>
          <pc:sldMk cId="0" sldId="259"/>
        </pc:sldMkLst>
      </pc:sldChg>
      <pc:sldChg chg="modNotesTx">
        <pc:chgData name="ريان سعد محمد التويجرى" userId="020bb9bf-e47b-49a7-910c-08cfa9a952bc" providerId="ADAL" clId="{5F48012C-F858-4A72-826B-AB8D8683EA05}" dt="2026-06-07T16:55:22.980" v="12" actId="20577"/>
        <pc:sldMkLst>
          <pc:docMk/>
          <pc:sldMk cId="0" sldId="260"/>
        </pc:sldMkLst>
      </pc:sldChg>
      <pc:sldChg chg="modNotesTx">
        <pc:chgData name="ريان سعد محمد التويجرى" userId="020bb9bf-e47b-49a7-910c-08cfa9a952bc" providerId="ADAL" clId="{5F48012C-F858-4A72-826B-AB8D8683EA05}" dt="2026-06-07T16:55:49.282" v="19" actId="20577"/>
        <pc:sldMkLst>
          <pc:docMk/>
          <pc:sldMk cId="0" sldId="261"/>
        </pc:sldMkLst>
      </pc:sldChg>
      <pc:sldChg chg="modNotesTx">
        <pc:chgData name="ريان سعد محمد التويجرى" userId="020bb9bf-e47b-49a7-910c-08cfa9a952bc" providerId="ADAL" clId="{5F48012C-F858-4A72-826B-AB8D8683EA05}" dt="2026-06-07T16:55:52.902" v="20" actId="20577"/>
        <pc:sldMkLst>
          <pc:docMk/>
          <pc:sldMk cId="0" sldId="262"/>
        </pc:sldMkLst>
      </pc:sldChg>
      <pc:sldChg chg="modNotesTx">
        <pc:chgData name="ريان سعد محمد التويجرى" userId="020bb9bf-e47b-49a7-910c-08cfa9a952bc" providerId="ADAL" clId="{5F48012C-F858-4A72-826B-AB8D8683EA05}" dt="2026-06-07T16:55:55.384" v="21" actId="20577"/>
        <pc:sldMkLst>
          <pc:docMk/>
          <pc:sldMk cId="0" sldId="263"/>
        </pc:sldMkLst>
      </pc:sldChg>
      <pc:sldChg chg="modSp mod modNotesTx">
        <pc:chgData name="ريان سعد محمد التويجرى" userId="020bb9bf-e47b-49a7-910c-08cfa9a952bc" providerId="ADAL" clId="{5F48012C-F858-4A72-826B-AB8D8683EA05}" dt="2026-06-11T09:27:52.515" v="64" actId="20577"/>
        <pc:sldMkLst>
          <pc:docMk/>
          <pc:sldMk cId="0" sldId="264"/>
        </pc:sldMkLst>
        <pc:spChg chg="mod">
          <ac:chgData name="ريان سعد محمد التويجرى" userId="020bb9bf-e47b-49a7-910c-08cfa9a952bc" providerId="ADAL" clId="{5F48012C-F858-4A72-826B-AB8D8683EA05}" dt="2026-06-11T09:27:52.515" v="64" actId="20577"/>
          <ac:spMkLst>
            <pc:docMk/>
            <pc:sldMk cId="0" sldId="264"/>
            <ac:spMk id="254" creationId="{00000000-0000-0000-0000-000000000000}"/>
          </ac:spMkLst>
        </pc:spChg>
        <pc:spChg chg="mod">
          <ac:chgData name="ريان سعد محمد التويجرى" userId="020bb9bf-e47b-49a7-910c-08cfa9a952bc" providerId="ADAL" clId="{5F48012C-F858-4A72-826B-AB8D8683EA05}" dt="2026-06-11T09:27:48.573" v="60" actId="20577"/>
          <ac:spMkLst>
            <pc:docMk/>
            <pc:sldMk cId="0" sldId="264"/>
            <ac:spMk id="260" creationId="{00000000-0000-0000-0000-000000000000}"/>
          </ac:spMkLst>
        </pc:spChg>
      </pc:sldChg>
      <pc:sldChg chg="modNotesTx">
        <pc:chgData name="ريان سعد محمد التويجرى" userId="020bb9bf-e47b-49a7-910c-08cfa9a952bc" providerId="ADAL" clId="{5F48012C-F858-4A72-826B-AB8D8683EA05}" dt="2026-06-07T16:56:03.751" v="24" actId="20577"/>
        <pc:sldMkLst>
          <pc:docMk/>
          <pc:sldMk cId="0" sldId="265"/>
        </pc:sldMkLst>
      </pc:sldChg>
      <pc:sldChg chg="modNotesTx">
        <pc:chgData name="ريان سعد محمد التويجرى" userId="020bb9bf-e47b-49a7-910c-08cfa9a952bc" providerId="ADAL" clId="{5F48012C-F858-4A72-826B-AB8D8683EA05}" dt="2026-06-07T16:56:06.964" v="25" actId="20577"/>
        <pc:sldMkLst>
          <pc:docMk/>
          <pc:sldMk cId="0" sldId="266"/>
        </pc:sldMkLst>
      </pc:sldChg>
      <pc:sldChg chg="modNotesTx">
        <pc:chgData name="ريان سعد محمد التويجرى" userId="020bb9bf-e47b-49a7-910c-08cfa9a952bc" providerId="ADAL" clId="{5F48012C-F858-4A72-826B-AB8D8683EA05}" dt="2026-06-07T16:56:10.014" v="26" actId="20577"/>
        <pc:sldMkLst>
          <pc:docMk/>
          <pc:sldMk cId="0" sldId="267"/>
        </pc:sldMkLst>
      </pc:sldChg>
      <pc:sldChg chg="modNotesTx">
        <pc:chgData name="ريان سعد محمد التويجرى" userId="020bb9bf-e47b-49a7-910c-08cfa9a952bc" providerId="ADAL" clId="{5F48012C-F858-4A72-826B-AB8D8683EA05}" dt="2026-06-07T16:56:15.338" v="28" actId="20577"/>
        <pc:sldMkLst>
          <pc:docMk/>
          <pc:sldMk cId="0" sldId="268"/>
        </pc:sldMkLst>
      </pc:sldChg>
      <pc:sldChg chg="modNotesTx">
        <pc:chgData name="ريان سعد محمد التويجرى" userId="020bb9bf-e47b-49a7-910c-08cfa9a952bc" providerId="ADAL" clId="{5F48012C-F858-4A72-826B-AB8D8683EA05}" dt="2026-06-07T16:56:20.304" v="29" actId="20577"/>
        <pc:sldMkLst>
          <pc:docMk/>
          <pc:sldMk cId="0" sldId="269"/>
        </pc:sldMkLst>
      </pc:sldChg>
      <pc:sldChg chg="modNotesTx">
        <pc:chgData name="ريان سعد محمد التويجرى" userId="020bb9bf-e47b-49a7-910c-08cfa9a952bc" providerId="ADAL" clId="{5F48012C-F858-4A72-826B-AB8D8683EA05}" dt="2026-06-07T16:56:23.732" v="30" actId="20577"/>
        <pc:sldMkLst>
          <pc:docMk/>
          <pc:sldMk cId="0" sldId="270"/>
        </pc:sldMkLst>
      </pc:sldChg>
      <pc:sldChg chg="modNotesTx">
        <pc:chgData name="ريان سعد محمد التويجرى" userId="020bb9bf-e47b-49a7-910c-08cfa9a952bc" providerId="ADAL" clId="{5F48012C-F858-4A72-826B-AB8D8683EA05}" dt="2026-06-07T16:56:28.105" v="31" actId="20577"/>
        <pc:sldMkLst>
          <pc:docMk/>
          <pc:sldMk cId="0" sldId="271"/>
        </pc:sldMkLst>
      </pc:sldChg>
      <pc:sldChg chg="addSp delSp modSp mod modNotesTx">
        <pc:chgData name="ريان سعد محمد التويجرى" userId="020bb9bf-e47b-49a7-910c-08cfa9a952bc" providerId="ADAL" clId="{5F48012C-F858-4A72-826B-AB8D8683EA05}" dt="2026-06-07T16:56:32.590" v="32" actId="20577"/>
        <pc:sldMkLst>
          <pc:docMk/>
          <pc:sldMk cId="0" sldId="272"/>
        </pc:sldMkLst>
        <pc:spChg chg="mod">
          <ac:chgData name="ريان سعد محمد التويجرى" userId="020bb9bf-e47b-49a7-910c-08cfa9a952bc" providerId="ADAL" clId="{5F48012C-F858-4A72-826B-AB8D8683EA05}" dt="2026-06-07T16:53:01.312" v="6" actId="20577"/>
          <ac:spMkLst>
            <pc:docMk/>
            <pc:sldMk cId="0" sldId="272"/>
            <ac:spMk id="519" creationId="{00000000-0000-0000-0000-000000000000}"/>
          </ac:spMkLst>
        </pc:spChg>
      </pc:sldChg>
      <pc:sldChg chg="modNotesTx">
        <pc:chgData name="ريان سعد محمد التويجرى" userId="020bb9bf-e47b-49a7-910c-08cfa9a952bc" providerId="ADAL" clId="{5F48012C-F858-4A72-826B-AB8D8683EA05}" dt="2026-06-07T16:56:35.783" v="33" actId="20577"/>
        <pc:sldMkLst>
          <pc:docMk/>
          <pc:sldMk cId="0" sldId="275"/>
        </pc:sldMkLst>
      </pc:sldChg>
      <pc:sldChg chg="modSp mod modNotesTx">
        <pc:chgData name="ريان سعد محمد التويجرى" userId="020bb9bf-e47b-49a7-910c-08cfa9a952bc" providerId="ADAL" clId="{5F48012C-F858-4A72-826B-AB8D8683EA05}" dt="2026-06-07T17:04:33.010" v="38" actId="339"/>
        <pc:sldMkLst>
          <pc:docMk/>
          <pc:sldMk cId="2854771700" sldId="276"/>
        </pc:sldMkLst>
        <pc:graphicFrameChg chg="mod modGraphic">
          <ac:chgData name="ريان سعد محمد التويجرى" userId="020bb9bf-e47b-49a7-910c-08cfa9a952bc" providerId="ADAL" clId="{5F48012C-F858-4A72-826B-AB8D8683EA05}" dt="2026-06-07T17:04:33.010" v="38" actId="339"/>
          <ac:graphicFrameMkLst>
            <pc:docMk/>
            <pc:sldMk cId="2854771700" sldId="276"/>
            <ac:graphicFrameMk id="9" creationId="{1E421C5C-9E70-A674-E7FB-DB475C0DEC54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4:33.010" v="38" actId="339"/>
          <ac:graphicFrameMkLst>
            <pc:docMk/>
            <pc:sldMk cId="2854771700" sldId="276"/>
            <ac:graphicFrameMk id="11" creationId="{55414D72-C115-9C5F-1DDA-012CDA05858F}"/>
          </ac:graphicFrameMkLst>
        </pc:graphicFrameChg>
      </pc:sldChg>
      <pc:sldChg chg="modSp mod modNotesTx">
        <pc:chgData name="ريان سعد محمد التويجرى" userId="020bb9bf-e47b-49a7-910c-08cfa9a952bc" providerId="ADAL" clId="{5F48012C-F858-4A72-826B-AB8D8683EA05}" dt="2026-06-07T17:06:32.881" v="42" actId="339"/>
        <pc:sldMkLst>
          <pc:docMk/>
          <pc:sldMk cId="2078773271" sldId="277"/>
        </pc:sldMkLst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4" creationId="{EC008106-2231-F586-2657-37F46CBD3E52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6" creationId="{4C830602-69A3-2552-7E46-B27831FB443D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8" creationId="{88BB8B45-F0FB-21BE-6A82-2D49030013D2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12" creationId="{947614D9-0B2E-6CDC-EB9E-CDB1DA1A9BE7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14" creationId="{14E2FDD4-4C81-92F4-ADBE-2486CF3EC586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16" creationId="{4C3AC236-8932-4214-53A2-A1BF2A8C7876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32.881" v="42" actId="339"/>
          <ac:graphicFrameMkLst>
            <pc:docMk/>
            <pc:sldMk cId="2078773271" sldId="277"/>
            <ac:graphicFrameMk id="18" creationId="{60F65061-5285-6537-B45F-B1887C017229}"/>
          </ac:graphicFrameMkLst>
        </pc:graphicFrameChg>
      </pc:sldChg>
      <pc:sldChg chg="modSp mod modNotesTx">
        <pc:chgData name="ريان سعد محمد التويجرى" userId="020bb9bf-e47b-49a7-910c-08cfa9a952bc" providerId="ADAL" clId="{5F48012C-F858-4A72-826B-AB8D8683EA05}" dt="2026-06-07T17:06:48.367" v="44" actId="339"/>
        <pc:sldMkLst>
          <pc:docMk/>
          <pc:sldMk cId="955678845" sldId="278"/>
        </pc:sldMkLst>
        <pc:graphicFrameChg chg="mod modGraphic">
          <ac:chgData name="ريان سعد محمد التويجرى" userId="020bb9bf-e47b-49a7-910c-08cfa9a952bc" providerId="ADAL" clId="{5F48012C-F858-4A72-826B-AB8D8683EA05}" dt="2026-06-07T17:06:48.367" v="44" actId="339"/>
          <ac:graphicFrameMkLst>
            <pc:docMk/>
            <pc:sldMk cId="955678845" sldId="278"/>
            <ac:graphicFrameMk id="6" creationId="{2F9530D1-A661-8458-8710-8ED0A0F39272}"/>
          </ac:graphicFrameMkLst>
        </pc:graphicFrameChg>
        <pc:graphicFrameChg chg="mod modGraphic">
          <ac:chgData name="ريان سعد محمد التويجرى" userId="020bb9bf-e47b-49a7-910c-08cfa9a952bc" providerId="ADAL" clId="{5F48012C-F858-4A72-826B-AB8D8683EA05}" dt="2026-06-07T17:06:48.367" v="44" actId="339"/>
          <ac:graphicFrameMkLst>
            <pc:docMk/>
            <pc:sldMk cId="955678845" sldId="278"/>
            <ac:graphicFrameMk id="10" creationId="{E335D97C-66C3-840B-E428-62591CFE5301}"/>
          </ac:graphicFrameMkLst>
        </pc:graphicFrameChg>
      </pc:sldChg>
      <pc:sldChg chg="modNotesTx">
        <pc:chgData name="ريان سعد محمد التويجرى" userId="020bb9bf-e47b-49a7-910c-08cfa9a952bc" providerId="ADAL" clId="{5F48012C-F858-4A72-826B-AB8D8683EA05}" dt="2026-06-07T16:56:00.823" v="23" actId="20577"/>
        <pc:sldMkLst>
          <pc:docMk/>
          <pc:sldMk cId="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6A8876-82E5-4FE7-9317-61816EEC5D33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01F477-CFA5-40BA-9F36-C0F188B6796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5DE3A2-D64B-4794-A194-0D09A83B3AA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35A5-09E5-47AC-1C4E-4C4C8626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>
            <a:extLst>
              <a:ext uri="{FF2B5EF4-FFF2-40B4-BE49-F238E27FC236}">
                <a16:creationId xmlns:a16="http://schemas.microsoft.com/office/drawing/2014/main" id="{CDEA632D-8471-2DDF-7E90-335BE53F5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>
            <a:extLst>
              <a:ext uri="{FF2B5EF4-FFF2-40B4-BE49-F238E27FC236}">
                <a16:creationId xmlns:a16="http://schemas.microsoft.com/office/drawing/2014/main" id="{DB384E79-7706-A9BC-13E4-8FDD1623AD2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3">
            <a:extLst>
              <a:ext uri="{FF2B5EF4-FFF2-40B4-BE49-F238E27FC236}">
                <a16:creationId xmlns:a16="http://schemas.microsoft.com/office/drawing/2014/main" id="{3719BF54-66F0-1698-340C-E53B80798C9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5DE3A2-D64B-4794-A194-0D09A83B3AA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9385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FEC802-5EFB-4139-9BA2-FF3ED837361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88FD83-1753-4CE6-83AA-87A819886DC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A000A4-A332-426E-B0D4-8A315B06CB5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FB8B-7DEB-1B45-495C-828C2D85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>
            <a:extLst>
              <a:ext uri="{FF2B5EF4-FFF2-40B4-BE49-F238E27FC236}">
                <a16:creationId xmlns:a16="http://schemas.microsoft.com/office/drawing/2014/main" id="{34BCD01D-C0C3-0C21-4884-C6D06CEC9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>
            <a:extLst>
              <a:ext uri="{FF2B5EF4-FFF2-40B4-BE49-F238E27FC236}">
                <a16:creationId xmlns:a16="http://schemas.microsoft.com/office/drawing/2014/main" id="{371CA4BD-2814-1136-493A-9666D1C528D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3">
            <a:extLst>
              <a:ext uri="{FF2B5EF4-FFF2-40B4-BE49-F238E27FC236}">
                <a16:creationId xmlns:a16="http://schemas.microsoft.com/office/drawing/2014/main" id="{CEFED2A4-7DB2-FA0E-5EE0-9021F95C235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5DE3A2-D64B-4794-A194-0D09A83B3AA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0646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602CCA-EEAD-4120-B41C-8750A2F0248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A3692-C194-40FC-A279-5065B66702B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C3593C-AF4E-44CE-8AA4-F1B22144001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6299AC-3BDC-4235-B357-5A0697CBAD8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29235C-F775-4DE9-BFCA-AA1C66C510F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A605C-6DC9-49DF-8EF5-8183D35F5E1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DC5FE-8C67-47C2-8069-0646B52B8C8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49AA0-C0CA-4FE5-BB16-38309964BE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CC51-0B72-A167-4D43-BBA27FE1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>
            <a:extLst>
              <a:ext uri="{FF2B5EF4-FFF2-40B4-BE49-F238E27FC236}">
                <a16:creationId xmlns:a16="http://schemas.microsoft.com/office/drawing/2014/main" id="{D1823D9B-1957-139B-87E7-1C8C7FF61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>
            <a:extLst>
              <a:ext uri="{FF2B5EF4-FFF2-40B4-BE49-F238E27FC236}">
                <a16:creationId xmlns:a16="http://schemas.microsoft.com/office/drawing/2014/main" id="{46ADE489-2A26-AFD0-22B6-3E822C6E14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3">
            <a:extLst>
              <a:ext uri="{FF2B5EF4-FFF2-40B4-BE49-F238E27FC236}">
                <a16:creationId xmlns:a16="http://schemas.microsoft.com/office/drawing/2014/main" id="{3875527C-48E2-E5C5-0249-9682E9D1604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5DE3A2-D64B-4794-A194-0D09A83B3AA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39657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8FBBE-56FA-478A-ADA0-D2E6642D85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D8219-19D7-49E7-98E8-6658CA55FF0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A4BC4-308A-45FA-A1A0-EB8D78706D8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F6CFE9-6D55-4A9E-A3BA-5EFC33D8E37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DFCE2E-A8AA-4AFD-84ED-0980585FC02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DBB05-6693-4190-9FDC-503E20F5E1A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7.png"/><Relationship Id="rId18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63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image" Target="../media/image510.png"/><Relationship Id="rId4" Type="http://schemas.openxmlformats.org/officeDocument/2006/relationships/image" Target="../media/image210.png"/><Relationship Id="rId9" Type="http://schemas.openxmlformats.org/officeDocument/2006/relationships/image" Target="../media/image5.png"/><Relationship Id="rId14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5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10" Type="http://schemas.openxmlformats.org/officeDocument/2006/relationships/image" Target="../media/image240.png"/><Relationship Id="rId4" Type="http://schemas.openxmlformats.org/officeDocument/2006/relationships/image" Target="../media/image211.png"/><Relationship Id="rId9" Type="http://schemas.openxmlformats.org/officeDocument/2006/relationships/image" Target="../media/image24.png"/><Relationship Id="rId14" Type="http://schemas.openxmlformats.org/officeDocument/2006/relationships/image" Target="../media/image2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8.png"/><Relationship Id="rId5" Type="http://schemas.openxmlformats.org/officeDocument/2006/relationships/image" Target="../media/image18.png"/><Relationship Id="rId10" Type="http://schemas.openxmlformats.org/officeDocument/2006/relationships/image" Target="../media/image4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0.png"/><Relationship Id="rId5" Type="http://schemas.openxmlformats.org/officeDocument/2006/relationships/image" Target="../media/image50.png"/><Relationship Id="rId4" Type="http://schemas.openxmlformats.org/officeDocument/2006/relationships/image" Target="../media/image4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39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382920" cy="5143320"/>
          </a:xfrm>
          <a:prstGeom prst="rect">
            <a:avLst/>
          </a:prstGeom>
          <a:solidFill>
            <a:srgbClr val="F2ED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228600" y="5029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14606E"/>
                </a:solidFill>
                <a:latin typeface="Calibri"/>
                <a:ea typeface="Calibri"/>
              </a:rPr>
              <a:t>AI VISION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228600" y="7772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574A3B"/>
                </a:solidFill>
                <a:latin typeface="Georgia"/>
                <a:ea typeface="Georgia"/>
              </a:rPr>
              <a:t>VIAD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069440" y="166914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i="1" strike="noStrike" spc="-1" dirty="0">
                <a:solidFill>
                  <a:srgbClr val="746558"/>
                </a:solidFill>
                <a:latin typeface="Georgia"/>
                <a:ea typeface="Georgia"/>
              </a:rPr>
              <a:t>VIAD: Vision Impaired Assistive Device</a:t>
            </a: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023720" y="1003785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AI-Vision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407881" y="2297970"/>
            <a:ext cx="1861728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Rayan </a:t>
            </a:r>
            <a:r>
              <a:rPr lang="en-US" sz="1350" b="1" spc="-1" dirty="0" err="1">
                <a:solidFill>
                  <a:srgbClr val="746558"/>
                </a:solidFill>
                <a:latin typeface="Calibri"/>
                <a:ea typeface="Calibri"/>
              </a:rPr>
              <a:t>Altawijari</a:t>
            </a:r>
            <a:endParaRPr lang="en-US" sz="1350" b="1" spc="-1" dirty="0">
              <a:solidFill>
                <a:srgbClr val="746558"/>
              </a:solidFill>
              <a:latin typeface="Calibri"/>
              <a:ea typeface="Calibri"/>
            </a:endParaRPr>
          </a:p>
        </p:txBody>
      </p:sp>
      <p:sp>
        <p:nvSpPr>
          <p:cNvPr id="17" name="Text 8"/>
          <p:cNvSpPr/>
          <p:nvPr/>
        </p:nvSpPr>
        <p:spPr>
          <a:xfrm>
            <a:off x="7120532" y="2304745"/>
            <a:ext cx="938953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431107823</a:t>
            </a:r>
          </a:p>
        </p:txBody>
      </p:sp>
      <p:sp>
        <p:nvSpPr>
          <p:cNvPr id="18" name="Text 9"/>
          <p:cNvSpPr/>
          <p:nvPr/>
        </p:nvSpPr>
        <p:spPr>
          <a:xfrm>
            <a:off x="5407881" y="2572290"/>
            <a:ext cx="1861728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Faris </a:t>
            </a:r>
            <a:r>
              <a:rPr lang="en-US" sz="1350" b="1" spc="-1" dirty="0" err="1">
                <a:solidFill>
                  <a:srgbClr val="746558"/>
                </a:solidFill>
                <a:latin typeface="Calibri"/>
                <a:ea typeface="Calibri"/>
              </a:rPr>
              <a:t>Alsuhibani</a:t>
            </a:r>
            <a:endParaRPr lang="en-US" sz="1350" b="1" spc="-1" dirty="0">
              <a:solidFill>
                <a:srgbClr val="746558"/>
              </a:solidFill>
              <a:latin typeface="Calibri"/>
              <a:ea typeface="Calibri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7120532" y="2579065"/>
            <a:ext cx="938953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431107834</a:t>
            </a:r>
          </a:p>
        </p:txBody>
      </p:sp>
      <p:sp>
        <p:nvSpPr>
          <p:cNvPr id="20" name="Text 11"/>
          <p:cNvSpPr/>
          <p:nvPr/>
        </p:nvSpPr>
        <p:spPr>
          <a:xfrm>
            <a:off x="5407881" y="2846610"/>
            <a:ext cx="1861728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Mohammed </a:t>
            </a:r>
            <a:r>
              <a:rPr lang="en-US" sz="1350" b="1" spc="-1" dirty="0" err="1">
                <a:solidFill>
                  <a:srgbClr val="746558"/>
                </a:solidFill>
                <a:latin typeface="Calibri"/>
                <a:ea typeface="Calibri"/>
              </a:rPr>
              <a:t>Alsharekh</a:t>
            </a:r>
            <a:endParaRPr lang="en-US" sz="1350" b="1" spc="-1" dirty="0">
              <a:solidFill>
                <a:srgbClr val="746558"/>
              </a:solidFill>
              <a:latin typeface="Calibri"/>
              <a:ea typeface="Calibri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7120532" y="2853385"/>
            <a:ext cx="938953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431108100</a:t>
            </a:r>
          </a:p>
        </p:txBody>
      </p:sp>
      <p:sp>
        <p:nvSpPr>
          <p:cNvPr id="22" name="Text 13"/>
          <p:cNvSpPr/>
          <p:nvPr/>
        </p:nvSpPr>
        <p:spPr>
          <a:xfrm>
            <a:off x="5407881" y="3120930"/>
            <a:ext cx="1861728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 err="1">
                <a:solidFill>
                  <a:srgbClr val="746558"/>
                </a:solidFill>
                <a:latin typeface="Calibri"/>
                <a:ea typeface="Calibri"/>
              </a:rPr>
              <a:t>Mohaya</a:t>
            </a: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 Almutairi</a:t>
            </a:r>
          </a:p>
        </p:txBody>
      </p:sp>
      <p:sp>
        <p:nvSpPr>
          <p:cNvPr id="23" name="Text 14"/>
          <p:cNvSpPr/>
          <p:nvPr/>
        </p:nvSpPr>
        <p:spPr>
          <a:xfrm>
            <a:off x="7120532" y="3127705"/>
            <a:ext cx="938953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431107802</a:t>
            </a:r>
          </a:p>
        </p:txBody>
      </p:sp>
      <p:sp>
        <p:nvSpPr>
          <p:cNvPr id="24" name="Text 15"/>
          <p:cNvSpPr/>
          <p:nvPr/>
        </p:nvSpPr>
        <p:spPr>
          <a:xfrm>
            <a:off x="5407881" y="3395250"/>
            <a:ext cx="1861728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Abdullah </a:t>
            </a:r>
            <a:r>
              <a:rPr lang="en-US" sz="1350" b="1" spc="-1" dirty="0" err="1">
                <a:solidFill>
                  <a:srgbClr val="746558"/>
                </a:solidFill>
                <a:latin typeface="Calibri"/>
                <a:ea typeface="Calibri"/>
              </a:rPr>
              <a:t>Alfayez</a:t>
            </a:r>
            <a:endParaRPr lang="en-US" sz="1350" b="1" spc="-1" dirty="0">
              <a:solidFill>
                <a:srgbClr val="746558"/>
              </a:solidFill>
              <a:latin typeface="Calibri"/>
              <a:ea typeface="Calibri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7120532" y="3402025"/>
            <a:ext cx="938953" cy="261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431108148</a:t>
            </a:r>
          </a:p>
        </p:txBody>
      </p:sp>
      <p:sp>
        <p:nvSpPr>
          <p:cNvPr id="26" name="Shape 17"/>
          <p:cNvSpPr/>
          <p:nvPr/>
        </p:nvSpPr>
        <p:spPr>
          <a:xfrm>
            <a:off x="3703320" y="3712320"/>
            <a:ext cx="5074920" cy="360"/>
          </a:xfrm>
          <a:prstGeom prst="line">
            <a:avLst/>
          </a:prstGeom>
          <a:ln w="12700">
            <a:solidFill>
              <a:srgbClr val="D6C8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3703320" y="380376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Supervised by:  </a:t>
            </a:r>
            <a:r>
              <a:rPr lang="en-US" sz="1350" b="1" spc="-1" dirty="0">
                <a:solidFill>
                  <a:srgbClr val="746558"/>
                </a:solidFill>
                <a:latin typeface="Calibri"/>
                <a:ea typeface="Calibri"/>
              </a:rPr>
              <a:t>Dr. Ali Mustafa Qamar Khan</a:t>
            </a:r>
          </a:p>
        </p:txBody>
      </p:sp>
      <p:sp>
        <p:nvSpPr>
          <p:cNvPr id="28" name="Text 19"/>
          <p:cNvSpPr/>
          <p:nvPr/>
        </p:nvSpPr>
        <p:spPr>
          <a:xfrm>
            <a:off x="3703320" y="413316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Qassim University · Department of Computer Science · 1447/1448 (2025/2026)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EE58677-F86F-CFA5-D141-9B4FE57A24FD}"/>
              </a:ext>
            </a:extLst>
          </p:cNvPr>
          <p:cNvSpPr/>
          <p:nvPr/>
        </p:nvSpPr>
        <p:spPr>
          <a:xfrm>
            <a:off x="3703320" y="2751396"/>
            <a:ext cx="1861728" cy="408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i="1" spc="-1" dirty="0">
                <a:solidFill>
                  <a:srgbClr val="746558"/>
                </a:solidFill>
                <a:latin typeface="Georgia"/>
              </a:rPr>
              <a:t>Presented by: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EC859-41E2-67F2-4286-0E081ACEC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05775" y="1814296"/>
            <a:ext cx="3465835" cy="2283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02920" y="234467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Plan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41"/>
          <p:cNvSpPr/>
          <p:nvPr/>
        </p:nvSpPr>
        <p:spPr>
          <a:xfrm>
            <a:off x="502920" y="491490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2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2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F1219358-4628-E4C6-ECCA-443CD4CE15F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5009989"/>
                  </p:ext>
                </p:extLst>
              </p:nvPr>
            </p:nvGraphicFramePr>
            <p:xfrm>
              <a:off x="534780" y="877404"/>
              <a:ext cx="2286000" cy="1285875"/>
            </p:xfrm>
            <a:graphic>
              <a:graphicData uri="http://schemas.microsoft.com/office/powerpoint/2016/slidezoom">
                <pslz:sldZm>
                  <pslz:sldZmObj sldId="276" cId="2854771700">
                    <pslz:zmPr id="{97B71708-764A-4E83-9589-8F45F3D8C463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F1219358-4628-E4C6-ECCA-443CD4CE15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780" y="877404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E02A6A0B-5DC7-971A-2DFA-BE5755DD74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5401259"/>
                  </p:ext>
                </p:extLst>
              </p:nvPr>
            </p:nvGraphicFramePr>
            <p:xfrm>
              <a:off x="3429000" y="871965"/>
              <a:ext cx="2286000" cy="1285875"/>
            </p:xfrm>
            <a:graphic>
              <a:graphicData uri="http://schemas.microsoft.com/office/powerpoint/2016/slidezoom">
                <pslz:sldZm>
                  <pslz:sldZmObj sldId="260" cId="0">
                    <pslz:zmPr id="{31EA2F94-5028-436F-9680-7A7F38F3283D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E02A6A0B-5DC7-971A-2DFA-BE5755DD74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29000" y="871965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59EC588F-4848-2A42-5920-3F0A172884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0764245"/>
                  </p:ext>
                </p:extLst>
              </p:nvPr>
            </p:nvGraphicFramePr>
            <p:xfrm>
              <a:off x="6323220" y="871965"/>
              <a:ext cx="2286000" cy="1285875"/>
            </p:xfrm>
            <a:graphic>
              <a:graphicData uri="http://schemas.microsoft.com/office/powerpoint/2016/slidezoom">
                <pslz:sldZm>
                  <pslz:sldZmObj sldId="277" cId="2078773271">
                    <pslz:zmPr id="{8E9C7C1B-9C79-4967-AECB-77D946FC5453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59EC588F-4848-2A42-5920-3F0A172884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23220" y="871965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613F227A-659F-7A76-FBA1-4B98159253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24756607"/>
                  </p:ext>
                </p:extLst>
              </p:nvPr>
            </p:nvGraphicFramePr>
            <p:xfrm>
              <a:off x="528747" y="2267640"/>
              <a:ext cx="2286000" cy="1285875"/>
            </p:xfrm>
            <a:graphic>
              <a:graphicData uri="http://schemas.microsoft.com/office/powerpoint/2016/slidezoom">
                <pslz:sldZm>
                  <pslz:sldZmObj sldId="267" cId="0">
                    <pslz:zmPr id="{4953A249-A7C9-4B27-980D-AD773E3BC91E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extLst>
                  <a:ext uri="{FF2B5EF4-FFF2-40B4-BE49-F238E27FC236}">
                    <a16:creationId xmlns:a16="http://schemas.microsoft.com/office/drawing/2014/main" id="{613F227A-659F-7A76-FBA1-4B98159253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747" y="2267640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5F9215FC-7A68-242D-8D4C-A56F4C1FB4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8115391"/>
                  </p:ext>
                </p:extLst>
              </p:nvPr>
            </p:nvGraphicFramePr>
            <p:xfrm>
              <a:off x="3429000" y="2267639"/>
              <a:ext cx="2286000" cy="1285875"/>
            </p:xfrm>
            <a:graphic>
              <a:graphicData uri="http://schemas.microsoft.com/office/powerpoint/2016/slidezoom">
                <pslz:sldZm>
                  <pslz:sldZmObj sldId="278" cId="955678845">
                    <pslz:zmPr id="{4B19BB93-1D2C-47D9-97E9-64F3A0609AFD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5F9215FC-7A68-242D-8D4C-A56F4C1FB4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29000" y="2267639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2AE5773B-A4DC-6537-9A37-01688CD3AD8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963558"/>
                  </p:ext>
                </p:extLst>
              </p:nvPr>
            </p:nvGraphicFramePr>
            <p:xfrm>
              <a:off x="6323220" y="2267639"/>
              <a:ext cx="2286000" cy="1285875"/>
            </p:xfrm>
            <a:graphic>
              <a:graphicData uri="http://schemas.microsoft.com/office/powerpoint/2016/slidezoom">
                <pslz:sldZm>
                  <pslz:sldZmObj sldId="270" cId="0">
                    <pslz:zmPr id="{6F697929-8426-45DB-BB23-85765B129EBC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extLst>
                  <a:ext uri="{FF2B5EF4-FFF2-40B4-BE49-F238E27FC236}">
                    <a16:creationId xmlns:a16="http://schemas.microsoft.com/office/drawing/2014/main" id="{2AE5773B-A4DC-6537-9A37-01688CD3AD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3220" y="2267639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BDC74FCF-3C05-1C42-528C-1B9E88DFC03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87312177"/>
                  </p:ext>
                </p:extLst>
              </p:nvPr>
            </p:nvGraphicFramePr>
            <p:xfrm>
              <a:off x="528747" y="3623158"/>
              <a:ext cx="2286000" cy="1285875"/>
            </p:xfrm>
            <a:graphic>
              <a:graphicData uri="http://schemas.microsoft.com/office/powerpoint/2016/slidezoom">
                <pslz:sldZm>
                  <pslz:sldZmObj sldId="271" cId="0">
                    <pslz:zmPr id="{F6F15D07-F550-4388-BC44-1E29AB3A38DF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extLst>
                  <a:ext uri="{FF2B5EF4-FFF2-40B4-BE49-F238E27FC236}">
                    <a16:creationId xmlns:a16="http://schemas.microsoft.com/office/drawing/2014/main" id="{BDC74FCF-3C05-1C42-528C-1B9E88DFC0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8747" y="3623158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D7A26813-5D26-DDF6-F76F-584E8EC739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38224206"/>
                  </p:ext>
                </p:extLst>
              </p:nvPr>
            </p:nvGraphicFramePr>
            <p:xfrm>
              <a:off x="3429000" y="3623157"/>
              <a:ext cx="2286000" cy="1285875"/>
            </p:xfrm>
            <a:graphic>
              <a:graphicData uri="http://schemas.microsoft.com/office/powerpoint/2016/slidezoom">
                <pslz:sldZm>
                  <pslz:sldZmObj sldId="272" cId="0">
                    <pslz:zmPr id="{C87BDD85-AB7B-409F-8FFE-40A55932F755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extLst>
                  <a:ext uri="{FF2B5EF4-FFF2-40B4-BE49-F238E27FC236}">
                    <a16:creationId xmlns:a16="http://schemas.microsoft.com/office/drawing/2014/main" id="{D7A26813-5D26-DDF6-F76F-584E8EC739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29000" y="3623157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143C5-5FBA-0EFF-1E00-E98FAEDF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0AD3291D-DF65-C164-6C8F-5549232A0D67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92226A12-0914-AC53-74C0-3AFFC2EA54EB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INTRODUCTION</a:t>
            </a:r>
          </a:p>
        </p:txBody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05918EAF-77FF-1813-8152-544D8C7E5606}"/>
              </a:ext>
            </a:extLst>
          </p:cNvPr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2">
            <a:extLst>
              <a:ext uri="{FF2B5EF4-FFF2-40B4-BE49-F238E27FC236}">
                <a16:creationId xmlns:a16="http://schemas.microsoft.com/office/drawing/2014/main" id="{6357B0A4-315F-BC6F-0E03-6B04B269A9AC}"/>
              </a:ext>
            </a:extLst>
          </p:cNvPr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spc="-1" dirty="0">
                <a:solidFill>
                  <a:srgbClr val="8A7D6E"/>
                </a:solidFill>
                <a:latin typeface="Calibri"/>
                <a:ea typeface="Calibri"/>
              </a:rPr>
              <a:t>3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50DB51F-3115-0167-AABB-B5605C2608CC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832FD0C-9D43-1147-D174-AD8DB9E433E3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01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1E421C5C-9E70-A674-E7FB-DB475C0DEC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3810175"/>
                  </p:ext>
                </p:extLst>
              </p:nvPr>
            </p:nvGraphicFramePr>
            <p:xfrm>
              <a:off x="1051559" y="1745037"/>
              <a:ext cx="3495735" cy="1966351"/>
            </p:xfrm>
            <a:graphic>
              <a:graphicData uri="http://schemas.microsoft.com/office/powerpoint/2016/slidezoom">
                <pslz:sldZm>
                  <pslz:sldZmObj sldId="258" cId="0">
                    <pslz:zmPr id="{6A779E2D-A26D-428D-897A-EE50CB0C6BA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95735" cy="19663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1E421C5C-9E70-A674-E7FB-DB475C0DEC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559" y="1745037"/>
                <a:ext cx="3495735" cy="19663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55414D72-C115-9C5F-1DDA-012CDA0585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2643400"/>
                  </p:ext>
                </p:extLst>
              </p:nvPr>
            </p:nvGraphicFramePr>
            <p:xfrm>
              <a:off x="4844728" y="1745037"/>
              <a:ext cx="3495735" cy="1966351"/>
            </p:xfrm>
            <a:graphic>
              <a:graphicData uri="http://schemas.microsoft.com/office/powerpoint/2016/slidezoom">
                <pslz:sldZm>
                  <pslz:sldZmObj sldId="259" cId="0">
                    <pslz:zmPr id="{4D4DD75A-C53D-430D-998F-0E7EDB351DF1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95735" cy="19663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55414D72-C115-9C5F-1DDA-012CDA0585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44728" y="1745037"/>
                <a:ext cx="3495735" cy="1966351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77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 dirty="0">
                <a:solidFill>
                  <a:srgbClr val="1F7A8C"/>
                </a:solidFill>
                <a:latin typeface="Calibri"/>
                <a:ea typeface="Calibri"/>
              </a:rPr>
              <a:t>INTRODUCTION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The problem &amp; the gap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502920" y="1298520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 dirty="0">
                <a:solidFill>
                  <a:srgbClr val="1F7A8C"/>
                </a:solidFill>
                <a:latin typeface="Calibri"/>
                <a:ea typeface="Calibri"/>
              </a:rPr>
              <a:t>295 million </a:t>
            </a:r>
            <a:r>
              <a:rPr lang="en-US" sz="14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people live with moderate to severe vision impairment yet today's assistive tools each leave a critical gap.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502920" y="1920240"/>
            <a:ext cx="260568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731520" y="2176200"/>
            <a:ext cx="712800" cy="7128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 0" descr="/tmp/assets/icons/wave_taupe.png"/>
          <p:cNvPicPr/>
          <p:nvPr/>
        </p:nvPicPr>
        <p:blipFill>
          <a:blip r:embed="rId3"/>
          <a:stretch/>
        </p:blipFill>
        <p:spPr>
          <a:xfrm>
            <a:off x="916920" y="2361600"/>
            <a:ext cx="342000" cy="342000"/>
          </a:xfrm>
          <a:prstGeom prst="rect">
            <a:avLst/>
          </a:prstGeom>
          <a:ln w="0">
            <a:noFill/>
          </a:ln>
        </p:spPr>
      </p:pic>
      <p:sp>
        <p:nvSpPr>
          <p:cNvPr id="80" name="Text 7"/>
          <p:cNvSpPr/>
          <p:nvPr/>
        </p:nvSpPr>
        <p:spPr>
          <a:xfrm>
            <a:off x="704160" y="29991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574A3B"/>
                </a:solidFill>
                <a:latin typeface="Georgia"/>
                <a:ea typeface="Georgia"/>
              </a:rPr>
              <a:t>White Cane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704160" y="3456360"/>
            <a:ext cx="2203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Detects only ground level obstacles within reach misses head level hazards like signs and branches occupies a hand.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3269160" y="1920240"/>
            <a:ext cx="260568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3497760" y="2176200"/>
            <a:ext cx="712800" cy="7128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1" descr="/tmp/assets/icons/map_teal.png"/>
          <p:cNvPicPr/>
          <p:nvPr/>
        </p:nvPicPr>
        <p:blipFill>
          <a:blip r:embed="rId4"/>
          <a:stretch/>
        </p:blipFill>
        <p:spPr>
          <a:xfrm>
            <a:off x="3683160" y="2361600"/>
            <a:ext cx="342000" cy="342000"/>
          </a:xfrm>
          <a:prstGeom prst="rect">
            <a:avLst/>
          </a:prstGeom>
          <a:ln w="0">
            <a:noFill/>
          </a:ln>
        </p:spPr>
      </p:pic>
      <p:sp>
        <p:nvSpPr>
          <p:cNvPr id="85" name="Text 11"/>
          <p:cNvSpPr/>
          <p:nvPr/>
        </p:nvSpPr>
        <p:spPr>
          <a:xfrm>
            <a:off x="3470040" y="29991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574A3B"/>
                </a:solidFill>
                <a:latin typeface="Georgia"/>
                <a:ea typeface="Georgia"/>
              </a:rPr>
              <a:t>GPS Navigation Apps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3470040" y="3456360"/>
            <a:ext cx="2203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Give turn by turn routes outdoors, but offer no real time awareness of nearby objects or obstacles.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3"/>
          <p:cNvSpPr/>
          <p:nvPr/>
        </p:nvSpPr>
        <p:spPr>
          <a:xfrm>
            <a:off x="6035040" y="1920240"/>
            <a:ext cx="2605680" cy="246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6263640" y="2176200"/>
            <a:ext cx="712800" cy="7128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Image 2" descr="/tmp/assets/icons/glasses_teal.png"/>
          <p:cNvPicPr/>
          <p:nvPr/>
        </p:nvPicPr>
        <p:blipFill>
          <a:blip r:embed="rId5"/>
          <a:stretch/>
        </p:blipFill>
        <p:spPr>
          <a:xfrm>
            <a:off x="6449040" y="2361600"/>
            <a:ext cx="342000" cy="342000"/>
          </a:xfrm>
          <a:prstGeom prst="rect">
            <a:avLst/>
          </a:prstGeom>
          <a:ln w="0">
            <a:noFill/>
          </a:ln>
        </p:spPr>
      </p:pic>
      <p:sp>
        <p:nvSpPr>
          <p:cNvPr id="90" name="Text 15"/>
          <p:cNvSpPr/>
          <p:nvPr/>
        </p:nvSpPr>
        <p:spPr>
          <a:xfrm>
            <a:off x="6236280" y="2999160"/>
            <a:ext cx="2203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574A3B"/>
                </a:solidFill>
                <a:latin typeface="Georgia"/>
                <a:ea typeface="Georgia"/>
              </a:rPr>
              <a:t>Commercial Smart Glasses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6236280" y="3456360"/>
            <a:ext cx="2203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Camera recognition with voice output but cost upward of $2,000 and depend on a constant internet connection.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spc="-1" dirty="0">
                <a:solidFill>
                  <a:srgbClr val="8A7D6E"/>
                </a:solidFill>
                <a:latin typeface="Calibri"/>
                <a:ea typeface="Calibri"/>
              </a:rPr>
              <a:t>4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54C15D4E-4D1E-59FF-82F1-3E9607493591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INTRODUCTION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What VIAD is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02920" y="132588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A hands free wearable on a 3D-printed glasses frame, powered by a Raspberry Pi combining two complementary loops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502920" y="2148840"/>
            <a:ext cx="4845960" cy="914040"/>
          </a:xfrm>
          <a:prstGeom prst="rect">
            <a:avLst/>
          </a:prstGeom>
          <a:solidFill>
            <a:srgbClr val="F2EDE3"/>
          </a:solidFill>
          <a:ln w="15875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6"/>
          <p:cNvSpPr/>
          <p:nvPr/>
        </p:nvSpPr>
        <p:spPr>
          <a:xfrm>
            <a:off x="685800" y="2286000"/>
            <a:ext cx="639720" cy="639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1" descr="/tmp/assets/icons/shield_teal.png"/>
          <p:cNvPicPr/>
          <p:nvPr/>
        </p:nvPicPr>
        <p:blipFill>
          <a:blip r:embed="rId3"/>
          <a:stretch/>
        </p:blipFill>
        <p:spPr>
          <a:xfrm>
            <a:off x="85212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03" name="Text 7"/>
          <p:cNvSpPr/>
          <p:nvPr/>
        </p:nvSpPr>
        <p:spPr>
          <a:xfrm>
            <a:off x="1463040" y="22860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Safety Loop (offline), always on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1463040" y="257868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Continuously detects obstacles and speaks their name and distance.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502920" y="3200400"/>
            <a:ext cx="4845960" cy="914040"/>
          </a:xfrm>
          <a:prstGeom prst="rect">
            <a:avLst/>
          </a:prstGeom>
          <a:solidFill>
            <a:srgbClr val="E4F0F2"/>
          </a:solidFill>
          <a:ln w="15875">
            <a:solidFill>
              <a:srgbClr val="9CC6C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685800" y="3337560"/>
            <a:ext cx="639720" cy="639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Image 2" descr="/tmp/assets/icons/brain_teal.png"/>
          <p:cNvPicPr/>
          <p:nvPr/>
        </p:nvPicPr>
        <p:blipFill>
          <a:blip r:embed="rId4"/>
          <a:stretch/>
        </p:blipFill>
        <p:spPr>
          <a:xfrm>
            <a:off x="852120" y="35038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08" name="Text 11"/>
          <p:cNvSpPr/>
          <p:nvPr/>
        </p:nvSpPr>
        <p:spPr>
          <a:xfrm>
            <a:off x="1463040" y="333756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 dirty="0">
                <a:solidFill>
                  <a:srgbClr val="14606E"/>
                </a:solidFill>
                <a:latin typeface="Calibri"/>
                <a:ea typeface="Calibri"/>
              </a:rPr>
              <a:t>Cognitive Loop (online), on demand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1463040" y="363024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14606E"/>
                </a:solidFill>
                <a:latin typeface="Calibri"/>
                <a:ea typeface="Calibri"/>
              </a:rPr>
              <a:t>On a button press, answers a spoken question about the scene via cloud AI.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02920" y="422460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 dirty="0">
                <a:solidFill>
                  <a:srgbClr val="746558"/>
                </a:solidFill>
                <a:latin typeface="Georgia"/>
                <a:ea typeface="Georgia"/>
              </a:rPr>
              <a:t>One affordable device immediate safety and on-demand understanding.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5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9035A43F-FD9B-E839-B407-B3F770E3DEFB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0EED1-E137-33F1-E753-1A76CA2E7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48880" y="1745308"/>
            <a:ext cx="3745076" cy="2467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4"/>
          <p:cNvSpPr/>
          <p:nvPr/>
        </p:nvSpPr>
        <p:spPr>
          <a:xfrm>
            <a:off x="502920" y="1280160"/>
            <a:ext cx="8137800" cy="749520"/>
          </a:xfrm>
          <a:prstGeom prst="rect">
            <a:avLst/>
          </a:prstGeom>
          <a:solidFill>
            <a:srgbClr val="F2EDE3"/>
          </a:solidFill>
          <a:ln w="12700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704160" y="1280160"/>
            <a:ext cx="77720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97" dirty="0">
                <a:solidFill>
                  <a:srgbClr val="1F7A8C"/>
                </a:solidFill>
                <a:latin typeface="Calibri"/>
                <a:ea typeface="Calibri"/>
              </a:rPr>
              <a:t>PROJECT AIM    </a:t>
            </a:r>
            <a:r>
              <a:rPr lang="en-US" sz="130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Design and build an AI powered smart glasses system that detects surrounding objects in real time and guides visually impaired users through audio feedback.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502920" y="2176200"/>
            <a:ext cx="81378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612720" y="2176200"/>
            <a:ext cx="548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D6C8B6"/>
                </a:solidFill>
                <a:latin typeface="Georgia"/>
                <a:ea typeface="Georgia"/>
              </a:rPr>
              <a:t>01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1216080" y="2258640"/>
            <a:ext cx="328680" cy="328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 0" descr="/tmp/assets/icons/glasses_teal.png"/>
          <p:cNvPicPr/>
          <p:nvPr/>
        </p:nvPicPr>
        <p:blipFill>
          <a:blip r:embed="rId3"/>
          <a:stretch/>
        </p:blipFill>
        <p:spPr>
          <a:xfrm>
            <a:off x="1301760" y="234432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123" name="Text 9"/>
          <p:cNvSpPr/>
          <p:nvPr/>
        </p:nvSpPr>
        <p:spPr>
          <a:xfrm>
            <a:off x="1828800" y="217620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Calibri"/>
                <a:ea typeface="Calibri"/>
              </a:rPr>
              <a:t>Wearable Device Design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4937760" y="217620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46558"/>
                </a:solidFill>
                <a:latin typeface="Calibri"/>
                <a:ea typeface="Calibri"/>
              </a:rPr>
              <a:t>Comfortable frame integrating AI and computer vision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Image 1" descr="/tmp/assets/icons/check_white.png"/>
          <p:cNvPicPr/>
          <p:nvPr/>
        </p:nvPicPr>
        <p:blipFill>
          <a:blip r:embed="rId4"/>
          <a:stretch/>
        </p:blipFill>
        <p:spPr>
          <a:xfrm>
            <a:off x="7763400" y="232704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27" name="Text 12"/>
          <p:cNvSpPr/>
          <p:nvPr/>
        </p:nvSpPr>
        <p:spPr>
          <a:xfrm>
            <a:off x="8001000" y="217620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DONE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502920" y="2706480"/>
            <a:ext cx="81378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612720" y="2706480"/>
            <a:ext cx="548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D6C8B6"/>
                </a:solidFill>
                <a:latin typeface="Georgia"/>
                <a:ea typeface="Georgia"/>
              </a:rPr>
              <a:t>02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1216080" y="2788920"/>
            <a:ext cx="328680" cy="328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Image 2" descr="/tmp/assets/icons/eye_teal.png"/>
          <p:cNvPicPr/>
          <p:nvPr/>
        </p:nvPicPr>
        <p:blipFill>
          <a:blip r:embed="rId5"/>
          <a:stretch/>
        </p:blipFill>
        <p:spPr>
          <a:xfrm>
            <a:off x="1301760" y="287460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132" name="Text 16"/>
          <p:cNvSpPr/>
          <p:nvPr/>
        </p:nvSpPr>
        <p:spPr>
          <a:xfrm>
            <a:off x="1828800" y="270648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Real-time Object Detection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4937760" y="270648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spc="-1" dirty="0">
                <a:solidFill>
                  <a:srgbClr val="746558"/>
                </a:solidFill>
                <a:latin typeface="Calibri"/>
                <a:ea typeface="Calibri"/>
              </a:rPr>
              <a:t>D</a:t>
            </a: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etection of common obstacles and objects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3" descr="/tmp/assets/icons/check_white.png"/>
          <p:cNvPicPr/>
          <p:nvPr/>
        </p:nvPicPr>
        <p:blipFill>
          <a:blip r:embed="rId4"/>
          <a:stretch/>
        </p:blipFill>
        <p:spPr>
          <a:xfrm>
            <a:off x="7763400" y="285768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36" name="Text 19"/>
          <p:cNvSpPr/>
          <p:nvPr/>
        </p:nvSpPr>
        <p:spPr>
          <a:xfrm>
            <a:off x="8001000" y="270648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DONE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502920" y="3237120"/>
            <a:ext cx="81378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1"/>
          <p:cNvSpPr/>
          <p:nvPr/>
        </p:nvSpPr>
        <p:spPr>
          <a:xfrm>
            <a:off x="612720" y="3237120"/>
            <a:ext cx="548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D6C8B6"/>
                </a:solidFill>
                <a:latin typeface="Georgia"/>
                <a:ea typeface="Georgia"/>
              </a:rPr>
              <a:t>03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2"/>
          <p:cNvSpPr/>
          <p:nvPr/>
        </p:nvSpPr>
        <p:spPr>
          <a:xfrm>
            <a:off x="1216080" y="3319200"/>
            <a:ext cx="328680" cy="328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Image 4" descr="/tmp/assets/icons/ruler_teal.png"/>
          <p:cNvPicPr/>
          <p:nvPr/>
        </p:nvPicPr>
        <p:blipFill>
          <a:blip r:embed="rId6"/>
          <a:stretch/>
        </p:blipFill>
        <p:spPr>
          <a:xfrm>
            <a:off x="1301760" y="340488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141" name="Text 23"/>
          <p:cNvSpPr/>
          <p:nvPr/>
        </p:nvSpPr>
        <p:spPr>
          <a:xfrm>
            <a:off x="1828800" y="323712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Integrated Distance Sensing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4937760" y="323712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Precise ultrasonic ranging for safe navigation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5" descr="/tmp/assets/icons/check_white.png"/>
          <p:cNvPicPr/>
          <p:nvPr/>
        </p:nvPicPr>
        <p:blipFill>
          <a:blip r:embed="rId4"/>
          <a:stretch/>
        </p:blipFill>
        <p:spPr>
          <a:xfrm>
            <a:off x="7763400" y="338796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45" name="Text 26"/>
          <p:cNvSpPr/>
          <p:nvPr/>
        </p:nvSpPr>
        <p:spPr>
          <a:xfrm>
            <a:off x="8001000" y="323712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DONE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7"/>
          <p:cNvSpPr/>
          <p:nvPr/>
        </p:nvSpPr>
        <p:spPr>
          <a:xfrm>
            <a:off x="502920" y="3767400"/>
            <a:ext cx="81378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8"/>
          <p:cNvSpPr/>
          <p:nvPr/>
        </p:nvSpPr>
        <p:spPr>
          <a:xfrm>
            <a:off x="612720" y="3767400"/>
            <a:ext cx="548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D6C8B6"/>
                </a:solidFill>
                <a:latin typeface="Georgia"/>
                <a:ea typeface="Georgia"/>
              </a:rPr>
              <a:t>04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9"/>
          <p:cNvSpPr/>
          <p:nvPr/>
        </p:nvSpPr>
        <p:spPr>
          <a:xfrm>
            <a:off x="1216080" y="3849480"/>
            <a:ext cx="328680" cy="328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Image 6" descr="/tmp/assets/icons/volume_teal.png"/>
          <p:cNvPicPr/>
          <p:nvPr/>
        </p:nvPicPr>
        <p:blipFill>
          <a:blip r:embed="rId7"/>
          <a:stretch/>
        </p:blipFill>
        <p:spPr>
          <a:xfrm>
            <a:off x="1301760" y="393516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150" name="Text 30"/>
          <p:cNvSpPr/>
          <p:nvPr/>
        </p:nvSpPr>
        <p:spPr>
          <a:xfrm>
            <a:off x="1828800" y="376740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Calibri"/>
                <a:ea typeface="Calibri"/>
              </a:rPr>
              <a:t>Audio Feedback System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31"/>
          <p:cNvSpPr/>
          <p:nvPr/>
        </p:nvSpPr>
        <p:spPr>
          <a:xfrm>
            <a:off x="4937760" y="376740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Bilingual, offline + online voice guidance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Image 7" descr="/tmp/assets/icons/check_white.png"/>
          <p:cNvPicPr/>
          <p:nvPr/>
        </p:nvPicPr>
        <p:blipFill>
          <a:blip r:embed="rId4"/>
          <a:stretch/>
        </p:blipFill>
        <p:spPr>
          <a:xfrm>
            <a:off x="7763400" y="391824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54" name="Text 33"/>
          <p:cNvSpPr/>
          <p:nvPr/>
        </p:nvSpPr>
        <p:spPr>
          <a:xfrm>
            <a:off x="8001000" y="376740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DONE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4"/>
          <p:cNvSpPr/>
          <p:nvPr/>
        </p:nvSpPr>
        <p:spPr>
          <a:xfrm>
            <a:off x="502920" y="4297680"/>
            <a:ext cx="8137800" cy="49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5"/>
          <p:cNvSpPr/>
          <p:nvPr/>
        </p:nvSpPr>
        <p:spPr>
          <a:xfrm>
            <a:off x="612720" y="4297680"/>
            <a:ext cx="54828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D6C8B6"/>
                </a:solidFill>
                <a:latin typeface="Georgia"/>
                <a:ea typeface="Georgia"/>
              </a:rPr>
              <a:t>05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6"/>
          <p:cNvSpPr/>
          <p:nvPr/>
        </p:nvSpPr>
        <p:spPr>
          <a:xfrm>
            <a:off x="1216080" y="4380120"/>
            <a:ext cx="328680" cy="328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Image 8" descr="/tmp/assets/icons/shield_teal.png"/>
          <p:cNvPicPr/>
          <p:nvPr/>
        </p:nvPicPr>
        <p:blipFill>
          <a:blip r:embed="rId8"/>
          <a:stretch/>
        </p:blipFill>
        <p:spPr>
          <a:xfrm>
            <a:off x="1301760" y="4465440"/>
            <a:ext cx="157680" cy="157680"/>
          </a:xfrm>
          <a:prstGeom prst="rect">
            <a:avLst/>
          </a:prstGeom>
          <a:ln w="0">
            <a:noFill/>
          </a:ln>
        </p:spPr>
      </p:pic>
      <p:sp>
        <p:nvSpPr>
          <p:cNvPr id="159" name="Text 37"/>
          <p:cNvSpPr/>
          <p:nvPr/>
        </p:nvSpPr>
        <p:spPr>
          <a:xfrm>
            <a:off x="1828800" y="4297680"/>
            <a:ext cx="31086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Usability &amp; Reliability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4937760" y="4297680"/>
            <a:ext cx="26514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Intuitive, dependable, fail-safe operation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9" descr="/tmp/assets/icons/check_white.png"/>
          <p:cNvPicPr/>
          <p:nvPr/>
        </p:nvPicPr>
        <p:blipFill>
          <a:blip r:embed="rId4"/>
          <a:stretch/>
        </p:blipFill>
        <p:spPr>
          <a:xfrm>
            <a:off x="7763400" y="4448520"/>
            <a:ext cx="191520" cy="191520"/>
          </a:xfrm>
          <a:prstGeom prst="rect">
            <a:avLst/>
          </a:prstGeom>
          <a:ln w="0">
            <a:noFill/>
          </a:ln>
        </p:spPr>
      </p:pic>
      <p:sp>
        <p:nvSpPr>
          <p:cNvPr id="163" name="Text 40"/>
          <p:cNvSpPr/>
          <p:nvPr/>
        </p:nvSpPr>
        <p:spPr>
          <a:xfrm>
            <a:off x="8001000" y="4297680"/>
            <a:ext cx="502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DONE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1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2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6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BEEA17D-E3D8-5AE4-9C38-F261A59A849A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C18F227-20AD-D343-84C0-474F4EC554D3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9F70F1F-D223-3B9A-9CCC-C7D84E9CA458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Aim &amp; Objectives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3C92F13-A2C6-3694-33EB-AEB8A2E3376D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A3192-3FE1-B079-BC29-EA540243C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7D36E57F-EF44-4D5B-AF40-0536768C32F0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2D3415CA-BBB9-6182-360D-8F14994532F1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IMPLEMENTATION &amp; EVALUATION</a:t>
            </a:r>
          </a:p>
        </p:txBody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621A2EAD-6812-3C42-0735-A8961BE50CE9}"/>
              </a:ext>
            </a:extLst>
          </p:cNvPr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2">
            <a:extLst>
              <a:ext uri="{FF2B5EF4-FFF2-40B4-BE49-F238E27FC236}">
                <a16:creationId xmlns:a16="http://schemas.microsoft.com/office/drawing/2014/main" id="{CA31F1F3-0BCA-CC2F-7627-70C1A3109B67}"/>
              </a:ext>
            </a:extLst>
          </p:cNvPr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7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10A4826-26AF-8526-C9E1-FF9503BEE65B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02D1BD4-B642-B9B3-0088-E324493DACEA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</a:t>
            </a:r>
            <a:r>
              <a:rPr lang="en-US" sz="3000" b="1" spc="-1" dirty="0">
                <a:solidFill>
                  <a:srgbClr val="746558"/>
                </a:solidFill>
                <a:latin typeface="Georgia"/>
                <a:ea typeface="Georgia"/>
              </a:rPr>
              <a:t>3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EC008106-2231-F586-2657-37F46CBD3E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6004356"/>
                  </p:ext>
                </p:extLst>
              </p:nvPr>
            </p:nvGraphicFramePr>
            <p:xfrm>
              <a:off x="1161000" y="975920"/>
              <a:ext cx="2286000" cy="1285875"/>
            </p:xfrm>
            <a:graphic>
              <a:graphicData uri="http://schemas.microsoft.com/office/powerpoint/2016/slidezoom">
                <pslz:sldZm>
                  <pslz:sldZmObj sldId="261" cId="0">
                    <pslz:zmPr id="{1184BCE3-ED00-48C4-8874-F34A7BD15CDE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EC008106-2231-F586-2657-37F46CBD3E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1000" y="975920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88BB8B45-F0FB-21BE-6A82-2D49030013D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3625995"/>
                  </p:ext>
                </p:extLst>
              </p:nvPr>
            </p:nvGraphicFramePr>
            <p:xfrm>
              <a:off x="3620790" y="975920"/>
              <a:ext cx="2286000" cy="1285875"/>
            </p:xfrm>
            <a:graphic>
              <a:graphicData uri="http://schemas.microsoft.com/office/powerpoint/2016/slidezoom">
                <pslz:sldZm>
                  <pslz:sldZmObj sldId="262" cId="0">
                    <pslz:zmPr id="{5852FFA2-7ACD-4788-B4D0-6D247BCD8341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88BB8B45-F0FB-21BE-6A82-2D49030013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20790" y="975920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947614D9-0B2E-6CDC-EB9E-CDB1DA1A9B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1009340"/>
                  </p:ext>
                </p:extLst>
              </p:nvPr>
            </p:nvGraphicFramePr>
            <p:xfrm>
              <a:off x="6080580" y="975920"/>
              <a:ext cx="2286000" cy="1285875"/>
            </p:xfrm>
            <a:graphic>
              <a:graphicData uri="http://schemas.microsoft.com/office/powerpoint/2016/slidezoom">
                <pslz:sldZm>
                  <pslz:sldZmObj sldId="263" cId="0">
                    <pslz:zmPr id="{389F90E2-5D04-499B-A52F-23B96D0E823F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extLst>
                  <a:ext uri="{FF2B5EF4-FFF2-40B4-BE49-F238E27FC236}">
                    <a16:creationId xmlns:a16="http://schemas.microsoft.com/office/drawing/2014/main" id="{947614D9-0B2E-6CDC-EB9E-CDB1DA1A9B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80580" y="975920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14E2FDD4-4C81-92F4-ADBE-2486CF3EC5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57941437"/>
                  </p:ext>
                </p:extLst>
              </p:nvPr>
            </p:nvGraphicFramePr>
            <p:xfrm>
              <a:off x="1161000" y="2416574"/>
              <a:ext cx="2286000" cy="1285875"/>
            </p:xfrm>
            <a:graphic>
              <a:graphicData uri="http://schemas.microsoft.com/office/powerpoint/2016/slidezoom">
                <pslz:sldZm>
                  <pslz:sldZmObj sldId="264" cId="0">
                    <pslz:zmPr id="{EBC85FE7-72CF-431C-90B8-07EB87C8E472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14E2FDD4-4C81-92F4-ADBE-2486CF3EC5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61000" y="2416574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4C3AC236-8932-4214-53A2-A1BF2A8C78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6892328"/>
                  </p:ext>
                </p:extLst>
              </p:nvPr>
            </p:nvGraphicFramePr>
            <p:xfrm>
              <a:off x="6080580" y="2416573"/>
              <a:ext cx="2286000" cy="1285875"/>
            </p:xfrm>
            <a:graphic>
              <a:graphicData uri="http://schemas.microsoft.com/office/powerpoint/2016/slidezoom">
                <pslz:sldZm>
                  <pslz:sldZmObj sldId="265" cId="0">
                    <pslz:zmPr id="{06B4831D-CC78-45E7-965F-626EB8653C3A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extLst>
                  <a:ext uri="{FF2B5EF4-FFF2-40B4-BE49-F238E27FC236}">
                    <a16:creationId xmlns:a16="http://schemas.microsoft.com/office/drawing/2014/main" id="{4C3AC236-8932-4214-53A2-A1BF2A8C78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80580" y="2416573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60F65061-5285-6537-B45F-B1887C0172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3891135"/>
                  </p:ext>
                </p:extLst>
              </p:nvPr>
            </p:nvGraphicFramePr>
            <p:xfrm>
              <a:off x="3620790" y="3808366"/>
              <a:ext cx="2286000" cy="1285875"/>
            </p:xfrm>
            <a:graphic>
              <a:graphicData uri="http://schemas.microsoft.com/office/powerpoint/2016/slidezoom">
                <pslz:sldZm>
                  <pslz:sldZmObj sldId="266" cId="0">
                    <pslz:zmPr id="{A3B13BC6-10C0-4E7C-B4B1-AFF2A67BF94A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extLst>
                  <a:ext uri="{FF2B5EF4-FFF2-40B4-BE49-F238E27FC236}">
                    <a16:creationId xmlns:a16="http://schemas.microsoft.com/office/drawing/2014/main" id="{60F65061-5285-6537-B45F-B1887C0172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20790" y="3808366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4C830602-69A3-2552-7E46-B27831FB44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3783833"/>
                  </p:ext>
                </p:extLst>
              </p:nvPr>
            </p:nvGraphicFramePr>
            <p:xfrm>
              <a:off x="3620790" y="2416573"/>
              <a:ext cx="2286000" cy="1285875"/>
            </p:xfrm>
            <a:graphic>
              <a:graphicData uri="http://schemas.microsoft.com/office/powerpoint/2016/slidezoom">
                <pslz:sldZm>
                  <pslz:sldZmObj sldId="279" cId="0">
                    <pslz:zmPr id="{99011BE0-110F-45FD-9122-611F4B5A1CAF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4C830602-69A3-2552-7E46-B27831FB44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20790" y="2416573"/>
                <a:ext cx="2286000" cy="1285875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877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 dirty="0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Dual-loop, multithreaded architecture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0" descr="/tmp/assets/arch.png"/>
          <p:cNvPicPr/>
          <p:nvPr/>
        </p:nvPicPr>
        <p:blipFill>
          <a:blip r:embed="rId3"/>
          <a:stretch/>
        </p:blipFill>
        <p:spPr>
          <a:xfrm>
            <a:off x="502920" y="1207080"/>
            <a:ext cx="8137800" cy="3401280"/>
          </a:xfrm>
          <a:prstGeom prst="rect">
            <a:avLst/>
          </a:prstGeom>
          <a:ln w="0">
            <a:noFill/>
          </a:ln>
        </p:spPr>
      </p:pic>
      <p:sp>
        <p:nvSpPr>
          <p:cNvPr id="171" name="Text 4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spc="-1" dirty="0">
                <a:solidFill>
                  <a:srgbClr val="8A7D6E"/>
                </a:solidFill>
                <a:latin typeface="Calibri"/>
                <a:ea typeface="Calibri"/>
              </a:rPr>
              <a:t>8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67FAB2A2-72DC-CF0A-2636-FC65DF6E6A80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Hardware build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502920" y="3877200"/>
            <a:ext cx="4160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 dirty="0">
                <a:solidFill>
                  <a:srgbClr val="8A7D6E"/>
                </a:solidFill>
                <a:latin typeface="Calibri"/>
                <a:ea typeface="Calibri"/>
              </a:rPr>
              <a:t>Fritzing wiring Pi 4B, HC-SR04, camera, mic &amp; speaker</a:t>
            </a:r>
            <a:endParaRPr lang="en-US" sz="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4937760" y="1298520"/>
            <a:ext cx="18741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5047560" y="1408320"/>
            <a:ext cx="383760" cy="3837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1" descr="/tmp/assets/icons/microchip_taupe.png"/>
          <p:cNvPicPr/>
          <p:nvPr/>
        </p:nvPicPr>
        <p:blipFill>
          <a:blip r:embed="rId3"/>
          <a:stretch/>
        </p:blipFill>
        <p:spPr>
          <a:xfrm>
            <a:off x="5147280" y="1508040"/>
            <a:ext cx="183960" cy="183960"/>
          </a:xfrm>
          <a:prstGeom prst="rect">
            <a:avLst/>
          </a:prstGeom>
          <a:ln w="0">
            <a:noFill/>
          </a:ln>
        </p:spPr>
      </p:pic>
      <p:sp>
        <p:nvSpPr>
          <p:cNvPr id="182" name="Text 7"/>
          <p:cNvSpPr/>
          <p:nvPr/>
        </p:nvSpPr>
        <p:spPr>
          <a:xfrm>
            <a:off x="5504760" y="13899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74A3B"/>
                </a:solidFill>
                <a:latin typeface="Calibri"/>
                <a:ea typeface="Calibri"/>
              </a:rPr>
              <a:t>Raspberry Pi 4B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5504760" y="168264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Main controller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6976800" y="1298520"/>
            <a:ext cx="18741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0"/>
          <p:cNvSpPr/>
          <p:nvPr/>
        </p:nvSpPr>
        <p:spPr>
          <a:xfrm>
            <a:off x="7086600" y="1408320"/>
            <a:ext cx="383760" cy="3837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Image 2" descr="/tmp/assets/icons/wave_taupe.png"/>
          <p:cNvPicPr/>
          <p:nvPr/>
        </p:nvPicPr>
        <p:blipFill>
          <a:blip r:embed="rId4"/>
          <a:stretch/>
        </p:blipFill>
        <p:spPr>
          <a:xfrm>
            <a:off x="7186320" y="1508040"/>
            <a:ext cx="183960" cy="183960"/>
          </a:xfrm>
          <a:prstGeom prst="rect">
            <a:avLst/>
          </a:prstGeom>
          <a:ln w="0">
            <a:noFill/>
          </a:ln>
        </p:spPr>
      </p:pic>
      <p:sp>
        <p:nvSpPr>
          <p:cNvPr id="187" name="Text 11"/>
          <p:cNvSpPr/>
          <p:nvPr/>
        </p:nvSpPr>
        <p:spPr>
          <a:xfrm>
            <a:off x="7543800" y="13899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74A3B"/>
                </a:solidFill>
                <a:latin typeface="Calibri"/>
                <a:ea typeface="Calibri"/>
              </a:rPr>
              <a:t>HC-SR04 Ultrasonic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7543800" y="168264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Bridge mount · GPIO 23/24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4937760" y="2203560"/>
            <a:ext cx="18741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5047560" y="2313360"/>
            <a:ext cx="383760" cy="3837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Image 3" descr="/tmp/assets/icons/hand_taupe.png"/>
          <p:cNvPicPr/>
          <p:nvPr/>
        </p:nvPicPr>
        <p:blipFill>
          <a:blip r:embed="rId5"/>
          <a:stretch/>
        </p:blipFill>
        <p:spPr>
          <a:xfrm>
            <a:off x="5147280" y="2413440"/>
            <a:ext cx="183960" cy="183960"/>
          </a:xfrm>
          <a:prstGeom prst="rect">
            <a:avLst/>
          </a:prstGeom>
          <a:ln w="0">
            <a:noFill/>
          </a:ln>
        </p:spPr>
      </p:pic>
      <p:sp>
        <p:nvSpPr>
          <p:cNvPr id="192" name="Text 15"/>
          <p:cNvSpPr/>
          <p:nvPr/>
        </p:nvSpPr>
        <p:spPr>
          <a:xfrm>
            <a:off x="5504760" y="22950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74A3B"/>
                </a:solidFill>
                <a:latin typeface="Calibri"/>
                <a:ea typeface="Calibri"/>
              </a:rPr>
              <a:t>Tactile Button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5504760" y="258768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GPIO 26 · triggers assistant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6976800" y="2203560"/>
            <a:ext cx="18741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7086600" y="2313360"/>
            <a:ext cx="383760" cy="3837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Image 4" descr="/tmp/assets/icons/camera_taupe.png"/>
          <p:cNvPicPr/>
          <p:nvPr/>
        </p:nvPicPr>
        <p:blipFill>
          <a:blip r:embed="rId6"/>
          <a:stretch/>
        </p:blipFill>
        <p:spPr>
          <a:xfrm>
            <a:off x="7186320" y="2413440"/>
            <a:ext cx="183960" cy="183960"/>
          </a:xfrm>
          <a:prstGeom prst="rect">
            <a:avLst/>
          </a:prstGeom>
          <a:ln w="0">
            <a:noFill/>
          </a:ln>
        </p:spPr>
      </p:pic>
      <p:sp>
        <p:nvSpPr>
          <p:cNvPr id="197" name="Text 19"/>
          <p:cNvSpPr/>
          <p:nvPr/>
        </p:nvSpPr>
        <p:spPr>
          <a:xfrm>
            <a:off x="7543800" y="22950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74A3B"/>
                </a:solidFill>
                <a:latin typeface="Calibri"/>
                <a:ea typeface="Calibri"/>
              </a:rPr>
              <a:t>Pi Camera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0"/>
          <p:cNvSpPr/>
          <p:nvPr/>
        </p:nvSpPr>
        <p:spPr>
          <a:xfrm>
            <a:off x="7543800" y="258768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CSI · live frames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4937760" y="3108960"/>
            <a:ext cx="18741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5047560" y="3218760"/>
            <a:ext cx="383760" cy="3837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Image 5" descr="/tmp/assets/icons/headphones_taupe.png"/>
          <p:cNvPicPr/>
          <p:nvPr/>
        </p:nvPicPr>
        <p:blipFill>
          <a:blip r:embed="rId7"/>
          <a:stretch/>
        </p:blipFill>
        <p:spPr>
          <a:xfrm>
            <a:off x="5147280" y="3318480"/>
            <a:ext cx="183960" cy="183960"/>
          </a:xfrm>
          <a:prstGeom prst="rect">
            <a:avLst/>
          </a:prstGeom>
          <a:ln w="0">
            <a:noFill/>
          </a:ln>
        </p:spPr>
      </p:pic>
      <p:sp>
        <p:nvSpPr>
          <p:cNvPr id="202" name="Text 23"/>
          <p:cNvSpPr/>
          <p:nvPr/>
        </p:nvSpPr>
        <p:spPr>
          <a:xfrm>
            <a:off x="5504760" y="32004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Bluetooth Audio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4"/>
          <p:cNvSpPr/>
          <p:nvPr/>
        </p:nvSpPr>
        <p:spPr>
          <a:xfrm>
            <a:off x="5504760" y="349308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Hands-free, private output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5"/>
          <p:cNvSpPr/>
          <p:nvPr/>
        </p:nvSpPr>
        <p:spPr>
          <a:xfrm>
            <a:off x="6976800" y="3108960"/>
            <a:ext cx="18741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6"/>
          <p:cNvSpPr/>
          <p:nvPr/>
        </p:nvSpPr>
        <p:spPr>
          <a:xfrm>
            <a:off x="7086600" y="3218760"/>
            <a:ext cx="383760" cy="3837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Image 6" descr="/tmp/assets/icons/cube_taupe.png"/>
          <p:cNvPicPr/>
          <p:nvPr/>
        </p:nvPicPr>
        <p:blipFill>
          <a:blip r:embed="rId8"/>
          <a:stretch/>
        </p:blipFill>
        <p:spPr>
          <a:xfrm>
            <a:off x="7186320" y="3318480"/>
            <a:ext cx="183960" cy="183960"/>
          </a:xfrm>
          <a:prstGeom prst="rect">
            <a:avLst/>
          </a:prstGeom>
          <a:ln w="0">
            <a:noFill/>
          </a:ln>
        </p:spPr>
      </p:pic>
      <p:sp>
        <p:nvSpPr>
          <p:cNvPr id="207" name="Text 27"/>
          <p:cNvSpPr/>
          <p:nvPr/>
        </p:nvSpPr>
        <p:spPr>
          <a:xfrm>
            <a:off x="7543800" y="32004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74A3B"/>
                </a:solidFill>
                <a:latin typeface="Calibri"/>
                <a:ea typeface="Calibri"/>
              </a:rPr>
              <a:t>3D-Printed Wayfarer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8"/>
          <p:cNvSpPr/>
          <p:nvPr/>
        </p:nvSpPr>
        <p:spPr>
          <a:xfrm>
            <a:off x="7543800" y="3493080"/>
            <a:ext cx="12340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Frame · 5V/3A power bank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9"/>
          <p:cNvSpPr/>
          <p:nvPr/>
        </p:nvSpPr>
        <p:spPr>
          <a:xfrm>
            <a:off x="4937760" y="3940560"/>
            <a:ext cx="3790604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GPIO via </a:t>
            </a:r>
            <a:r>
              <a:rPr lang="en-US" sz="1050" b="1" spc="-1" dirty="0" err="1">
                <a:solidFill>
                  <a:srgbClr val="1F7A8C"/>
                </a:solidFill>
                <a:ea typeface="Calibri"/>
              </a:rPr>
              <a:t>gpiozero</a:t>
            </a: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  ·  HC-SR04 Trig 23 / Echo 24  ·  Button 26 (pull-up)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30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1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spc="-1" dirty="0">
                <a:solidFill>
                  <a:srgbClr val="8A7D6E"/>
                </a:solidFill>
                <a:latin typeface="Calibri"/>
                <a:ea typeface="Calibri"/>
              </a:rPr>
              <a:t>9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D53F6031-F7F2-E69B-AC03-E9C8769352A5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  <p:pic>
        <p:nvPicPr>
          <p:cNvPr id="3" name="drawing">
            <a:extLst>
              <a:ext uri="{FF2B5EF4-FFF2-40B4-BE49-F238E27FC236}">
                <a16:creationId xmlns:a16="http://schemas.microsoft.com/office/drawing/2014/main" id="{66B9A8D8-EDA9-481F-68BF-6D29D776A8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300759"/>
            <a:ext cx="4160160" cy="2573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F40AED-5C09-A80D-1B7D-5F8446009B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56860" y="2805455"/>
            <a:ext cx="648937" cy="549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2120-E706-0A9B-FECB-21BF38289FE1}"/>
              </a:ext>
            </a:extLst>
          </p:cNvPr>
          <p:cNvSpPr txBox="1"/>
          <p:nvPr/>
        </p:nvSpPr>
        <p:spPr>
          <a:xfrm>
            <a:off x="502920" y="3284389"/>
            <a:ext cx="611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700" b="0" i="0" dirty="0">
                <a:effectLst/>
              </a:rPr>
              <a:t>bluetooth earbuds</a:t>
            </a:r>
            <a:endParaRPr lang="ar-SA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Software modules &amp; threading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502920" y="1325880"/>
            <a:ext cx="507456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594360" y="1398960"/>
            <a:ext cx="310680" cy="310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Image 0" descr="/tmp/assets/icons/code_taupe.png"/>
          <p:cNvPicPr/>
          <p:nvPr/>
        </p:nvPicPr>
        <p:blipFill>
          <a:blip r:embed="rId3"/>
          <a:stretch/>
        </p:blipFill>
        <p:spPr>
          <a:xfrm>
            <a:off x="675360" y="147996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219" name="Text 6"/>
          <p:cNvSpPr/>
          <p:nvPr/>
        </p:nvSpPr>
        <p:spPr>
          <a:xfrm>
            <a:off x="1069920" y="132588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Georgia"/>
                <a:ea typeface="Georgia"/>
              </a:rPr>
              <a:t>main.py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2377440" y="13258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Orchestrator · voice language picker · data flow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502920" y="1856160"/>
            <a:ext cx="507456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594360" y="1929240"/>
            <a:ext cx="310680" cy="310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Image 1" descr="/tmp/assets/icons/microchip_taupe.png"/>
          <p:cNvPicPr/>
          <p:nvPr/>
        </p:nvPicPr>
        <p:blipFill>
          <a:blip r:embed="rId4"/>
          <a:stretch/>
        </p:blipFill>
        <p:spPr>
          <a:xfrm>
            <a:off x="675360" y="201024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224" name="Text 10"/>
          <p:cNvSpPr/>
          <p:nvPr/>
        </p:nvSpPr>
        <p:spPr>
          <a:xfrm>
            <a:off x="1069920" y="18561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Georgia"/>
                <a:ea typeface="Georgia"/>
              </a:rPr>
              <a:t>hardware.py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2377440" y="18561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gpiozero button + HC-SR04 distance sensor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502920" y="2386440"/>
            <a:ext cx="507456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594360" y="2459880"/>
            <a:ext cx="310680" cy="310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Image 2" descr="/tmp/assets/icons/eye_teal.png"/>
          <p:cNvPicPr/>
          <p:nvPr/>
        </p:nvPicPr>
        <p:blipFill>
          <a:blip r:embed="rId5"/>
          <a:stretch/>
        </p:blipFill>
        <p:spPr>
          <a:xfrm>
            <a:off x="675360" y="254052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229" name="Text 14"/>
          <p:cNvSpPr/>
          <p:nvPr/>
        </p:nvSpPr>
        <p:spPr>
          <a:xfrm>
            <a:off x="1069920" y="238644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Georgia"/>
                <a:ea typeface="Georgia"/>
              </a:rPr>
              <a:t>vision.py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2377440" y="23864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Picamera2 capture + LiteRT detection pipeline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502920" y="2917080"/>
            <a:ext cx="507456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594360" y="2990160"/>
            <a:ext cx="310680" cy="310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Image 3" descr="/tmp/assets/icons/brain_teal.png"/>
          <p:cNvPicPr/>
          <p:nvPr/>
        </p:nvPicPr>
        <p:blipFill>
          <a:blip r:embed="rId6"/>
          <a:stretch/>
        </p:blipFill>
        <p:spPr>
          <a:xfrm>
            <a:off x="675360" y="307080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234" name="Text 18"/>
          <p:cNvSpPr/>
          <p:nvPr/>
        </p:nvSpPr>
        <p:spPr>
          <a:xfrm>
            <a:off x="1069920" y="291708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Georgia"/>
                <a:ea typeface="Georgia"/>
              </a:rPr>
              <a:t>assistant.py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9"/>
          <p:cNvSpPr/>
          <p:nvPr/>
        </p:nvSpPr>
        <p:spPr>
          <a:xfrm>
            <a:off x="2377440" y="291708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Gemini 2.5 Flash multimodal queries (bilingual)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0"/>
          <p:cNvSpPr/>
          <p:nvPr/>
        </p:nvSpPr>
        <p:spPr>
          <a:xfrm>
            <a:off x="502920" y="3447360"/>
            <a:ext cx="507456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1"/>
          <p:cNvSpPr/>
          <p:nvPr/>
        </p:nvSpPr>
        <p:spPr>
          <a:xfrm>
            <a:off x="594360" y="3520440"/>
            <a:ext cx="310680" cy="3106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Image 4" descr="/tmp/assets/icons/volume_teal.png"/>
          <p:cNvPicPr/>
          <p:nvPr/>
        </p:nvPicPr>
        <p:blipFill>
          <a:blip r:embed="rId7"/>
          <a:stretch/>
        </p:blipFill>
        <p:spPr>
          <a:xfrm>
            <a:off x="675360" y="3601440"/>
            <a:ext cx="149040" cy="149040"/>
          </a:xfrm>
          <a:prstGeom prst="rect">
            <a:avLst/>
          </a:prstGeom>
          <a:ln w="0">
            <a:noFill/>
          </a:ln>
        </p:spPr>
      </p:pic>
      <p:sp>
        <p:nvSpPr>
          <p:cNvPr id="239" name="Text 22"/>
          <p:cNvSpPr/>
          <p:nvPr/>
        </p:nvSpPr>
        <p:spPr>
          <a:xfrm>
            <a:off x="1069920" y="3447360"/>
            <a:ext cx="1416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574A3B"/>
                </a:solidFill>
                <a:latin typeface="Georgia"/>
                <a:ea typeface="Georgia"/>
              </a:rPr>
              <a:t>audio.py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3"/>
          <p:cNvSpPr/>
          <p:nvPr/>
        </p:nvSpPr>
        <p:spPr>
          <a:xfrm>
            <a:off x="2377440" y="34473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Bilingual TTS neural cache + </a:t>
            </a:r>
            <a:r>
              <a:rPr lang="en-US" sz="1050" b="0" strike="noStrike" spc="-1" dirty="0" err="1">
                <a:solidFill>
                  <a:srgbClr val="746558"/>
                </a:solidFill>
                <a:latin typeface="Calibri"/>
                <a:ea typeface="Calibri"/>
              </a:rPr>
              <a:t>espeak</a:t>
            </a: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-ng / STT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4"/>
          <p:cNvSpPr/>
          <p:nvPr/>
        </p:nvSpPr>
        <p:spPr>
          <a:xfrm>
            <a:off x="5852160" y="1325880"/>
            <a:ext cx="2788560" cy="3108600"/>
          </a:xfrm>
          <a:prstGeom prst="rect">
            <a:avLst/>
          </a:prstGeom>
          <a:solidFill>
            <a:srgbClr val="F2EDE3"/>
          </a:solidFill>
          <a:ln w="12700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5"/>
          <p:cNvSpPr/>
          <p:nvPr/>
        </p:nvSpPr>
        <p:spPr>
          <a:xfrm>
            <a:off x="6035040" y="1463040"/>
            <a:ext cx="566640" cy="566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Image 5" descr="/tmp/assets/icons/stream_teal.png"/>
          <p:cNvPicPr/>
          <p:nvPr/>
        </p:nvPicPr>
        <p:blipFill>
          <a:blip r:embed="rId8"/>
          <a:stretch/>
        </p:blipFill>
        <p:spPr>
          <a:xfrm>
            <a:off x="6182280" y="1610280"/>
            <a:ext cx="271800" cy="271800"/>
          </a:xfrm>
          <a:prstGeom prst="rect">
            <a:avLst/>
          </a:prstGeom>
          <a:ln w="0">
            <a:noFill/>
          </a:ln>
        </p:spPr>
      </p:pic>
      <p:sp>
        <p:nvSpPr>
          <p:cNvPr id="244" name="Text 26"/>
          <p:cNvSpPr/>
          <p:nvPr/>
        </p:nvSpPr>
        <p:spPr>
          <a:xfrm>
            <a:off x="6675120" y="1481400"/>
            <a:ext cx="1828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74A3B"/>
                </a:solidFill>
                <a:latin typeface="Georgia"/>
                <a:ea typeface="Georgia"/>
              </a:rPr>
              <a:t>Multithreading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6053400" y="2121480"/>
            <a:ext cx="246852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Background distance sensor thread (~20 Hz)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Non-blocking voice alert threads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Neural voice cache built in the background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Gemini call with a 15 s timeout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 err="1">
                <a:solidFill>
                  <a:srgbClr val="4C4438"/>
                </a:solidFill>
                <a:latin typeface="Calibri"/>
                <a:ea typeface="Calibri"/>
              </a:rPr>
              <a:t>is_busy</a:t>
            </a: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 flag serializes the two loops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8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9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10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E4AE5AB4-240C-CA89-0A59-B169F6EF7988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Object detection</a:t>
            </a:r>
            <a:r>
              <a:rPr lang="en-US" sz="2600" b="1" spc="-1" dirty="0">
                <a:solidFill>
                  <a:srgbClr val="574A3B"/>
                </a:solidFill>
                <a:latin typeface="Georgia"/>
                <a:ea typeface="Georgia"/>
              </a:rPr>
              <a:t> &amp; </a:t>
            </a:r>
            <a:r>
              <a:rPr lang="en-US" sz="26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model decision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502920" y="1371600"/>
            <a:ext cx="393156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731520" y="14814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9">
                <a:solidFill>
                  <a:srgbClr val="8A7D6E"/>
                </a:solidFill>
                <a:latin typeface="Calibri"/>
                <a:ea typeface="Calibri"/>
              </a:rPr>
              <a:t>BASELINE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731520" y="170064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YOLOv11-Nano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731520" y="20847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24-class custom training  ·  </a:t>
            </a:r>
            <a:r>
              <a:rPr lang="en-US" sz="11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mAP@0.5 ≈ 0.71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731520" y="23958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5000"/>
              </a:lnSpc>
              <a:tabLst>
                <a:tab pos="0" algn="l"/>
              </a:tabLst>
            </a:pPr>
            <a:r>
              <a:rPr lang="en-US" sz="1100" spc="-1" dirty="0">
                <a:solidFill>
                  <a:srgbClr val="746558"/>
                </a:solidFill>
                <a:ea typeface="Calibri"/>
              </a:rPr>
              <a:t>Precision 0.82 . Highest accuracy in our tests but ran below real time on the Pi 4B CPU.</a:t>
            </a:r>
            <a:endParaRPr lang="en-US" sz="11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4709160" y="1371600"/>
            <a:ext cx="3931560" cy="1874160"/>
          </a:xfrm>
          <a:prstGeom prst="rect">
            <a:avLst/>
          </a:prstGeom>
          <a:solidFill>
            <a:srgbClr val="E4F0F2"/>
          </a:solidFill>
          <a:ln w="15875">
            <a:solidFill>
              <a:srgbClr val="9CC6CE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4846320" y="148140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4846320" y="1481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DEPLOYED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4937760" y="17740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4606E"/>
                </a:solidFill>
                <a:latin typeface="Georgia"/>
                <a:ea typeface="Georgia"/>
              </a:rPr>
              <a:t>SSD-</a:t>
            </a:r>
            <a:r>
              <a:rPr lang="en-US" sz="1600" b="1" strike="noStrike" spc="-1" dirty="0" err="1">
                <a:solidFill>
                  <a:srgbClr val="14606E"/>
                </a:solidFill>
                <a:latin typeface="Georgia"/>
                <a:ea typeface="Georgia"/>
              </a:rPr>
              <a:t>MobileNet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4937760" y="21578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4606E"/>
                </a:solidFill>
                <a:latin typeface="Calibri"/>
                <a:ea typeface="Calibri"/>
              </a:rPr>
              <a:t>Quantized COCO · TFLite  ·  </a:t>
            </a:r>
            <a:r>
              <a:rPr lang="en-US" sz="1150" b="1" strike="noStrike" spc="-1">
                <a:solidFill>
                  <a:srgbClr val="14606E"/>
                </a:solidFill>
                <a:latin typeface="Calibri"/>
                <a:ea typeface="Calibri"/>
              </a:rPr>
              <a:t>real-time on Pi 4B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4937760" y="246888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14606E"/>
                </a:solidFill>
                <a:latin typeface="Calibri"/>
                <a:ea typeface="Calibri"/>
              </a:rPr>
              <a:t>Fast enough for continuous safety the right trade-off for a wearable device.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5"/>
          <p:cNvSpPr/>
          <p:nvPr/>
        </p:nvSpPr>
        <p:spPr>
          <a:xfrm>
            <a:off x="502920" y="3456360"/>
            <a:ext cx="2605680" cy="1051200"/>
          </a:xfrm>
          <a:prstGeom prst="rect">
            <a:avLst/>
          </a:prstGeom>
          <a:solidFill>
            <a:srgbClr val="F2EDE3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6"/>
          <p:cNvSpPr/>
          <p:nvPr/>
        </p:nvSpPr>
        <p:spPr>
          <a:xfrm>
            <a:off x="685800" y="376740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Image 0" descr="/tmp/assets/icons/bolt_teal.png"/>
          <p:cNvPicPr/>
          <p:nvPr/>
        </p:nvPicPr>
        <p:blipFill>
          <a:blip r:embed="rId3"/>
          <a:stretch/>
        </p:blipFill>
        <p:spPr>
          <a:xfrm>
            <a:off x="795240" y="387684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266" name="Text 17"/>
          <p:cNvSpPr/>
          <p:nvPr/>
        </p:nvSpPr>
        <p:spPr>
          <a:xfrm>
            <a:off x="1216080" y="360288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~150 </a:t>
            </a:r>
            <a:r>
              <a:rPr lang="en-US" sz="2300" b="1" strike="noStrike" spc="-1" dirty="0" err="1">
                <a:solidFill>
                  <a:srgbClr val="574A3B"/>
                </a:solidFill>
                <a:latin typeface="Georgia"/>
                <a:ea typeface="Georgia"/>
              </a:rPr>
              <a:t>ms</a:t>
            </a:r>
            <a:endParaRPr lang="en-US" sz="2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1216080" y="40600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Safety-loop latency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9"/>
          <p:cNvSpPr/>
          <p:nvPr/>
        </p:nvSpPr>
        <p:spPr>
          <a:xfrm>
            <a:off x="3269160" y="3456360"/>
            <a:ext cx="2605680" cy="1051200"/>
          </a:xfrm>
          <a:prstGeom prst="rect">
            <a:avLst/>
          </a:prstGeom>
          <a:solidFill>
            <a:srgbClr val="F2EDE3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0"/>
          <p:cNvSpPr/>
          <p:nvPr/>
        </p:nvSpPr>
        <p:spPr>
          <a:xfrm>
            <a:off x="3452040" y="376740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Image 1" descr="/tmp/assets/icons/bullseye_teal.png"/>
          <p:cNvPicPr/>
          <p:nvPr/>
        </p:nvPicPr>
        <p:blipFill>
          <a:blip r:embed="rId4"/>
          <a:stretch/>
        </p:blipFill>
        <p:spPr>
          <a:xfrm>
            <a:off x="3561120" y="387684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271" name="Text 21"/>
          <p:cNvSpPr/>
          <p:nvPr/>
        </p:nvSpPr>
        <p:spPr>
          <a:xfrm>
            <a:off x="3982320" y="360288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&gt;80%</a:t>
            </a:r>
            <a:endParaRPr lang="en-US" sz="2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2"/>
          <p:cNvSpPr/>
          <p:nvPr/>
        </p:nvSpPr>
        <p:spPr>
          <a:xfrm>
            <a:off x="3982320" y="40600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Detection confidence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3"/>
          <p:cNvSpPr/>
          <p:nvPr/>
        </p:nvSpPr>
        <p:spPr>
          <a:xfrm>
            <a:off x="6035040" y="3456360"/>
            <a:ext cx="2605680" cy="1051200"/>
          </a:xfrm>
          <a:prstGeom prst="rect">
            <a:avLst/>
          </a:prstGeom>
          <a:solidFill>
            <a:srgbClr val="F2EDE3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4"/>
          <p:cNvSpPr/>
          <p:nvPr/>
        </p:nvSpPr>
        <p:spPr>
          <a:xfrm>
            <a:off x="6217920" y="376740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Image 2" descr="/tmp/assets/icons/sync_taupe.png"/>
          <p:cNvPicPr/>
          <p:nvPr/>
        </p:nvPicPr>
        <p:blipFill>
          <a:blip r:embed="rId5"/>
          <a:stretch/>
        </p:blipFill>
        <p:spPr>
          <a:xfrm>
            <a:off x="6327360" y="387684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276" name="Text 25"/>
          <p:cNvSpPr/>
          <p:nvPr/>
        </p:nvSpPr>
        <p:spPr>
          <a:xfrm>
            <a:off x="6748200" y="3602880"/>
            <a:ext cx="1782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574A3B"/>
                </a:solidFill>
                <a:latin typeface="Georgia"/>
                <a:ea typeface="Georgia"/>
              </a:rPr>
              <a:t>Real-time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6"/>
          <p:cNvSpPr/>
          <p:nvPr/>
        </p:nvSpPr>
        <p:spPr>
          <a:xfrm>
            <a:off x="6748200" y="4060080"/>
            <a:ext cx="1782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Continuous on-device inference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502920" y="457200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 dirty="0">
                <a:solidFill>
                  <a:srgbClr val="8A7D6E"/>
                </a:solidFill>
                <a:latin typeface="Calibri"/>
                <a:ea typeface="Calibri"/>
              </a:rPr>
              <a:t>Edge benchmark accuracy vs. real time speed on Raspberry Pi 4B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29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spc="-1" dirty="0">
                <a:solidFill>
                  <a:srgbClr val="8A7D6E"/>
                </a:solidFill>
                <a:latin typeface="Calibri"/>
                <a:ea typeface="Calibri"/>
              </a:rPr>
              <a:t>11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E2B49AA5-22E6-6816-5BDC-14279344B782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Edge benchmark &amp; training results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4"/>
          <p:cNvSpPr/>
          <p:nvPr/>
        </p:nvSpPr>
        <p:spPr>
          <a:xfrm>
            <a:off x="502920" y="1361800"/>
            <a:ext cx="461736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685800" y="14532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On-device inference speed (Raspberry Pi 4)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7" name="Image 0" descr="/tmp/assets/bench.png"/>
          <p:cNvPicPr/>
          <p:nvPr/>
        </p:nvPicPr>
        <p:blipFill>
          <a:blip r:embed="rId3"/>
          <a:stretch/>
        </p:blipFill>
        <p:spPr>
          <a:xfrm>
            <a:off x="612720" y="1773280"/>
            <a:ext cx="4388760" cy="2404440"/>
          </a:xfrm>
          <a:prstGeom prst="rect">
            <a:avLst/>
          </a:prstGeom>
          <a:ln w="0">
            <a:noFill/>
          </a:ln>
        </p:spPr>
      </p:pic>
      <p:sp>
        <p:nvSpPr>
          <p:cNvPr id="288" name="Text 6"/>
          <p:cNvSpPr/>
          <p:nvPr/>
        </p:nvSpPr>
        <p:spPr>
          <a:xfrm>
            <a:off x="685800" y="424216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 dirty="0">
                <a:solidFill>
                  <a:srgbClr val="8A7D6E"/>
                </a:solidFill>
                <a:latin typeface="Calibri"/>
                <a:ea typeface="Calibri"/>
              </a:rPr>
              <a:t>Published benchmark, Alqahtani et al. (2024) [7] — lower is faster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7"/>
          <p:cNvSpPr/>
          <p:nvPr/>
        </p:nvSpPr>
        <p:spPr>
          <a:xfrm>
            <a:off x="5257800" y="1361800"/>
            <a:ext cx="3382920" cy="3200040"/>
          </a:xfrm>
          <a:prstGeom prst="rect">
            <a:avLst/>
          </a:prstGeom>
          <a:solidFill>
            <a:srgbClr val="F2EDE3"/>
          </a:solidFill>
          <a:ln w="12700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8"/>
          <p:cNvSpPr/>
          <p:nvPr/>
        </p:nvSpPr>
        <p:spPr>
          <a:xfrm>
            <a:off x="5440680" y="14989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YOLOv11-Nano training baseline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9"/>
          <p:cNvSpPr/>
          <p:nvPr/>
        </p:nvSpPr>
        <p:spPr>
          <a:xfrm>
            <a:off x="5440680" y="18190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Custom dataset · 32,511 images · 24 navigation classes · 80 epochs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0"/>
          <p:cNvSpPr/>
          <p:nvPr/>
        </p:nvSpPr>
        <p:spPr>
          <a:xfrm>
            <a:off x="5440680" y="2477440"/>
            <a:ext cx="1462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1"/>
          <p:cNvSpPr/>
          <p:nvPr/>
        </p:nvSpPr>
        <p:spPr>
          <a:xfrm>
            <a:off x="5440680" y="251380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F7A8C"/>
                </a:solidFill>
                <a:latin typeface="Georgia"/>
                <a:ea typeface="Georgia"/>
              </a:rPr>
              <a:t>0.713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2"/>
          <p:cNvSpPr/>
          <p:nvPr/>
        </p:nvSpPr>
        <p:spPr>
          <a:xfrm>
            <a:off x="5440680" y="282484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746558"/>
                </a:solidFill>
                <a:latin typeface="Calibri"/>
                <a:ea typeface="Calibri"/>
              </a:rPr>
              <a:t>mAP@0.5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3"/>
          <p:cNvSpPr/>
          <p:nvPr/>
        </p:nvSpPr>
        <p:spPr>
          <a:xfrm>
            <a:off x="7040880" y="2477440"/>
            <a:ext cx="1462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4"/>
          <p:cNvSpPr/>
          <p:nvPr/>
        </p:nvSpPr>
        <p:spPr>
          <a:xfrm>
            <a:off x="7040880" y="251380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F7A8C"/>
                </a:solidFill>
                <a:latin typeface="Georgia"/>
                <a:ea typeface="Georgia"/>
              </a:rPr>
              <a:t>0.494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5"/>
          <p:cNvSpPr/>
          <p:nvPr/>
        </p:nvSpPr>
        <p:spPr>
          <a:xfrm>
            <a:off x="7040880" y="282484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746558"/>
                </a:solidFill>
                <a:latin typeface="Calibri"/>
                <a:ea typeface="Calibri"/>
              </a:rPr>
              <a:t>mAP@0.5:0.95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6"/>
          <p:cNvSpPr/>
          <p:nvPr/>
        </p:nvSpPr>
        <p:spPr>
          <a:xfrm>
            <a:off x="5440680" y="3153880"/>
            <a:ext cx="1462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7"/>
          <p:cNvSpPr/>
          <p:nvPr/>
        </p:nvSpPr>
        <p:spPr>
          <a:xfrm>
            <a:off x="5440680" y="319060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F7A8C"/>
                </a:solidFill>
                <a:latin typeface="Georgia"/>
                <a:ea typeface="Georgia"/>
              </a:rPr>
              <a:t>0.82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8"/>
          <p:cNvSpPr/>
          <p:nvPr/>
        </p:nvSpPr>
        <p:spPr>
          <a:xfrm>
            <a:off x="5440680" y="350164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746558"/>
                </a:solidFill>
                <a:latin typeface="Calibri"/>
                <a:ea typeface="Calibri"/>
              </a:rPr>
              <a:t>Precision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9"/>
          <p:cNvSpPr/>
          <p:nvPr/>
        </p:nvSpPr>
        <p:spPr>
          <a:xfrm>
            <a:off x="7040880" y="3153880"/>
            <a:ext cx="146268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20"/>
          <p:cNvSpPr/>
          <p:nvPr/>
        </p:nvSpPr>
        <p:spPr>
          <a:xfrm>
            <a:off x="7040880" y="319060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F7A8C"/>
                </a:solidFill>
                <a:latin typeface="Georgia"/>
                <a:ea typeface="Georgia"/>
              </a:rPr>
              <a:t>0.67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1"/>
          <p:cNvSpPr/>
          <p:nvPr/>
        </p:nvSpPr>
        <p:spPr>
          <a:xfrm>
            <a:off x="7040880" y="350164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746558"/>
                </a:solidFill>
                <a:latin typeface="Calibri"/>
                <a:ea typeface="Calibri"/>
              </a:rPr>
              <a:t>Recall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22"/>
          <p:cNvSpPr/>
          <p:nvPr/>
        </p:nvSpPr>
        <p:spPr>
          <a:xfrm>
            <a:off x="5440680" y="384904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574A3B"/>
                </a:solidFill>
                <a:latin typeface="Calibri"/>
                <a:ea typeface="Calibri"/>
              </a:rPr>
              <a:t>Strongest classes:  </a:t>
            </a:r>
            <a:r>
              <a:rPr lang="en-US" sz="950" b="0" strike="noStrike" spc="-1">
                <a:solidFill>
                  <a:srgbClr val="746558"/>
                </a:solidFill>
                <a:latin typeface="Calibri"/>
                <a:ea typeface="Calibri"/>
              </a:rPr>
              <a:t>stop signs, doors, fire hydrants 0.98 · crosswalks 0.95 · trees 0.94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3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24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12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A8FAFFDA-0DAC-A0B3-2D9D-0878B3830B48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Cognitive loop (scene understanding)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502920" y="1365584"/>
            <a:ext cx="8137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Press the button to ask about the scene. </a:t>
            </a:r>
            <a:r>
              <a:rPr lang="en-US" sz="130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VIAD captures what the camera sees and sends it with your spoken question to Gemini 2.5 Flash.</a:t>
            </a: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502920" y="2057400"/>
            <a:ext cx="146268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905400" y="2258640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Image 0" descr="/tmp/assets/icons/hand_taupe.png"/>
          <p:cNvPicPr/>
          <p:nvPr/>
        </p:nvPicPr>
        <p:blipFill>
          <a:blip r:embed="rId3"/>
          <a:stretch/>
        </p:blipFill>
        <p:spPr>
          <a:xfrm>
            <a:off x="1076400" y="24296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289" name="Text 7"/>
          <p:cNvSpPr/>
          <p:nvPr/>
        </p:nvSpPr>
        <p:spPr>
          <a:xfrm>
            <a:off x="557640" y="297180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74A3B"/>
                </a:solidFill>
                <a:latin typeface="Calibri"/>
                <a:ea typeface="Calibri"/>
              </a:rPr>
              <a:t>Button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8"/>
          <p:cNvSpPr/>
          <p:nvPr/>
        </p:nvSpPr>
        <p:spPr>
          <a:xfrm>
            <a:off x="557640" y="3246120"/>
            <a:ext cx="13528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GPIO 26 press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9"/>
          <p:cNvSpPr/>
          <p:nvPr/>
        </p:nvSpPr>
        <p:spPr>
          <a:xfrm>
            <a:off x="1983960" y="2834640"/>
            <a:ext cx="160200" cy="360"/>
          </a:xfrm>
          <a:prstGeom prst="line">
            <a:avLst/>
          </a:prstGeom>
          <a:ln w="25400">
            <a:solidFill>
              <a:srgbClr val="8A7D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0"/>
          <p:cNvSpPr/>
          <p:nvPr/>
        </p:nvSpPr>
        <p:spPr>
          <a:xfrm>
            <a:off x="2162520" y="2057400"/>
            <a:ext cx="146268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1"/>
          <p:cNvSpPr/>
          <p:nvPr/>
        </p:nvSpPr>
        <p:spPr>
          <a:xfrm>
            <a:off x="2565000" y="2258640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Image 1" descr="/tmp/assets/icons/mic_teal.png"/>
          <p:cNvPicPr/>
          <p:nvPr/>
        </p:nvPicPr>
        <p:blipFill>
          <a:blip r:embed="rId4"/>
          <a:stretch/>
        </p:blipFill>
        <p:spPr>
          <a:xfrm>
            <a:off x="2736000" y="24296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295" name="Text 12"/>
          <p:cNvSpPr/>
          <p:nvPr/>
        </p:nvSpPr>
        <p:spPr>
          <a:xfrm>
            <a:off x="2217600" y="297180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74A3B"/>
                </a:solidFill>
                <a:latin typeface="Calibri"/>
                <a:ea typeface="Calibri"/>
              </a:rPr>
              <a:t>Listen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3"/>
          <p:cNvSpPr/>
          <p:nvPr/>
        </p:nvSpPr>
        <p:spPr>
          <a:xfrm>
            <a:off x="2217600" y="3246120"/>
            <a:ext cx="13528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STT Google Web Speech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3643560" y="2834640"/>
            <a:ext cx="160200" cy="360"/>
          </a:xfrm>
          <a:prstGeom prst="line">
            <a:avLst/>
          </a:prstGeom>
          <a:ln w="25400">
            <a:solidFill>
              <a:srgbClr val="8A7D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5"/>
          <p:cNvSpPr/>
          <p:nvPr/>
        </p:nvSpPr>
        <p:spPr>
          <a:xfrm>
            <a:off x="3822120" y="2057400"/>
            <a:ext cx="146268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6"/>
          <p:cNvSpPr/>
          <p:nvPr/>
        </p:nvSpPr>
        <p:spPr>
          <a:xfrm>
            <a:off x="4224600" y="2258640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Image 2" descr="/tmp/assets/icons/camera_teal.png"/>
          <p:cNvPicPr/>
          <p:nvPr/>
        </p:nvPicPr>
        <p:blipFill>
          <a:blip r:embed="rId5"/>
          <a:stretch/>
        </p:blipFill>
        <p:spPr>
          <a:xfrm>
            <a:off x="4395600" y="24296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301" name="Text 17"/>
          <p:cNvSpPr/>
          <p:nvPr/>
        </p:nvSpPr>
        <p:spPr>
          <a:xfrm>
            <a:off x="3877200" y="297180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74A3B"/>
                </a:solidFill>
                <a:latin typeface="Calibri"/>
                <a:ea typeface="Calibri"/>
              </a:rPr>
              <a:t>Capture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3877200" y="3246120"/>
            <a:ext cx="13528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Live camera frame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9"/>
          <p:cNvSpPr/>
          <p:nvPr/>
        </p:nvSpPr>
        <p:spPr>
          <a:xfrm>
            <a:off x="5303520" y="2834640"/>
            <a:ext cx="159840" cy="360"/>
          </a:xfrm>
          <a:prstGeom prst="line">
            <a:avLst/>
          </a:prstGeom>
          <a:ln w="25400">
            <a:solidFill>
              <a:srgbClr val="8A7D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5481720" y="2057400"/>
            <a:ext cx="1462680" cy="1554120"/>
          </a:xfrm>
          <a:prstGeom prst="rect">
            <a:avLst/>
          </a:prstGeom>
          <a:solidFill>
            <a:srgbClr val="E4F0F2"/>
          </a:solidFill>
          <a:ln w="15875">
            <a:solidFill>
              <a:srgbClr val="9CC6CE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1"/>
          <p:cNvSpPr/>
          <p:nvPr/>
        </p:nvSpPr>
        <p:spPr>
          <a:xfrm>
            <a:off x="5884200" y="2258640"/>
            <a:ext cx="658080" cy="6580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Image 3" descr="/tmp/assets/icons/brain_teal.png"/>
          <p:cNvPicPr/>
          <p:nvPr/>
        </p:nvPicPr>
        <p:blipFill>
          <a:blip r:embed="rId6"/>
          <a:stretch/>
        </p:blipFill>
        <p:spPr>
          <a:xfrm>
            <a:off x="6055200" y="24296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307" name="Text 22"/>
          <p:cNvSpPr/>
          <p:nvPr/>
        </p:nvSpPr>
        <p:spPr>
          <a:xfrm>
            <a:off x="5536800" y="297180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4606E"/>
                </a:solidFill>
                <a:latin typeface="Calibri"/>
                <a:ea typeface="Calibri"/>
              </a:rPr>
              <a:t>Gemini 2.5 Flash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23"/>
          <p:cNvSpPr/>
          <p:nvPr/>
        </p:nvSpPr>
        <p:spPr>
          <a:xfrm>
            <a:off x="5536800" y="3246120"/>
            <a:ext cx="13528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Frame + question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6963120" y="2834640"/>
            <a:ext cx="159840" cy="360"/>
          </a:xfrm>
          <a:prstGeom prst="line">
            <a:avLst/>
          </a:prstGeom>
          <a:ln w="25400">
            <a:solidFill>
              <a:srgbClr val="8A7D6E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5"/>
          <p:cNvSpPr/>
          <p:nvPr/>
        </p:nvSpPr>
        <p:spPr>
          <a:xfrm>
            <a:off x="7141320" y="2057400"/>
            <a:ext cx="146268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6"/>
          <p:cNvSpPr/>
          <p:nvPr/>
        </p:nvSpPr>
        <p:spPr>
          <a:xfrm>
            <a:off x="7543800" y="2258640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Image 4" descr="/tmp/assets/icons/volume_teal.png"/>
          <p:cNvPicPr/>
          <p:nvPr/>
        </p:nvPicPr>
        <p:blipFill>
          <a:blip r:embed="rId7"/>
          <a:stretch/>
        </p:blipFill>
        <p:spPr>
          <a:xfrm>
            <a:off x="7714800" y="2429640"/>
            <a:ext cx="315720" cy="315720"/>
          </a:xfrm>
          <a:prstGeom prst="rect">
            <a:avLst/>
          </a:prstGeom>
          <a:ln w="0">
            <a:noFill/>
          </a:ln>
        </p:spPr>
      </p:pic>
      <p:sp>
        <p:nvSpPr>
          <p:cNvPr id="313" name="Text 27"/>
          <p:cNvSpPr/>
          <p:nvPr/>
        </p:nvSpPr>
        <p:spPr>
          <a:xfrm>
            <a:off x="7196400" y="2971800"/>
            <a:ext cx="135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574A3B"/>
                </a:solidFill>
                <a:latin typeface="Calibri"/>
                <a:ea typeface="Calibri"/>
              </a:rPr>
              <a:t>Speak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8"/>
          <p:cNvSpPr/>
          <p:nvPr/>
        </p:nvSpPr>
        <p:spPr>
          <a:xfrm>
            <a:off x="7196400" y="3246120"/>
            <a:ext cx="13528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1–2 sentence answer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9"/>
          <p:cNvSpPr/>
          <p:nvPr/>
        </p:nvSpPr>
        <p:spPr>
          <a:xfrm>
            <a:off x="502920" y="3977640"/>
            <a:ext cx="8137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1F7A8C"/>
                </a:solidFill>
                <a:latin typeface="Calibri"/>
                <a:ea typeface="Calibri"/>
              </a:rPr>
              <a:t>Resilient by design:  </a:t>
            </a:r>
            <a:r>
              <a:rPr lang="en-US" sz="1150" b="0" strike="noStrike" spc="-1">
                <a:solidFill>
                  <a:srgbClr val="746558"/>
                </a:solidFill>
                <a:latin typeface="Calibri"/>
                <a:ea typeface="Calibri"/>
              </a:rPr>
              <a:t>a 15 s query timeout keeps the button alive if the network stalls  ·  average response ≈ 2.5 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30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1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13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A12B636D-ABA6-F618-DF23-09E1077CAA38}"/>
              </a:ext>
            </a:extLst>
          </p:cNvPr>
          <p:cNvSpPr/>
          <p:nvPr/>
        </p:nvSpPr>
        <p:spPr>
          <a:xfrm>
            <a:off x="-360" y="1066168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IMPLEMENTATION &amp; EVALUATION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Bilingual audio feedback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"/>
          <p:cNvSpPr/>
          <p:nvPr/>
        </p:nvSpPr>
        <p:spPr>
          <a:xfrm>
            <a:off x="502920" y="1325880"/>
            <a:ext cx="393156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685800" y="1481400"/>
            <a:ext cx="548280" cy="5482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Image 0" descr="/tmp/assets/icons/language_teal.png"/>
          <p:cNvPicPr/>
          <p:nvPr/>
        </p:nvPicPr>
        <p:blipFill>
          <a:blip r:embed="rId3"/>
          <a:stretch/>
        </p:blipFill>
        <p:spPr>
          <a:xfrm>
            <a:off x="828360" y="162396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325" name="Text 6"/>
          <p:cNvSpPr/>
          <p:nvPr/>
        </p:nvSpPr>
        <p:spPr>
          <a:xfrm>
            <a:off x="1371600" y="1463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74A3B"/>
                </a:solidFill>
                <a:latin typeface="Calibri"/>
                <a:ea typeface="Calibri"/>
              </a:rPr>
              <a:t>Language by voice at startup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7"/>
          <p:cNvSpPr/>
          <p:nvPr/>
        </p:nvSpPr>
        <p:spPr>
          <a:xfrm>
            <a:off x="1371600" y="173736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English or Arabic, chosen by speaking. Defaults to English on silence so launch never blocks.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8"/>
          <p:cNvSpPr/>
          <p:nvPr/>
        </p:nvSpPr>
        <p:spPr>
          <a:xfrm>
            <a:off x="502920" y="2606040"/>
            <a:ext cx="3931560" cy="1782720"/>
          </a:xfrm>
          <a:prstGeom prst="rect">
            <a:avLst/>
          </a:prstGeom>
          <a:solidFill>
            <a:srgbClr val="F2EDE3"/>
          </a:solidFill>
          <a:ln w="12700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704160" y="274320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148">
                <a:solidFill>
                  <a:srgbClr val="8A7D6E"/>
                </a:solidFill>
                <a:latin typeface="Calibri"/>
                <a:ea typeface="Calibri"/>
              </a:rPr>
              <a:t>DISTANCE-BUCKETED ALERT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10"/>
          <p:cNvSpPr/>
          <p:nvPr/>
        </p:nvSpPr>
        <p:spPr>
          <a:xfrm>
            <a:off x="704160" y="299916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i="1" strike="noStrike" spc="-1">
                <a:solidFill>
                  <a:srgbClr val="574A3B"/>
                </a:solidFill>
                <a:latin typeface="Georgia"/>
                <a:ea typeface="Georgia"/>
              </a:rPr>
              <a:t>“Careful, chair at 50 centimeters”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704160" y="358452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Object label fused with the ultrasonic distance, floor-bucketed to 10 cm. Triggered under 100 cm; alerts ≥ 4 s apart.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2"/>
          <p:cNvSpPr/>
          <p:nvPr/>
        </p:nvSpPr>
        <p:spPr>
          <a:xfrm>
            <a:off x="4709160" y="1325880"/>
            <a:ext cx="3931560" cy="306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4937760" y="146304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74A3B"/>
                </a:solidFill>
                <a:latin typeface="Georgia"/>
                <a:ea typeface="Georgia"/>
              </a:rPr>
              <a:t>Two-tier text-to-speech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4"/>
          <p:cNvSpPr/>
          <p:nvPr/>
        </p:nvSpPr>
        <p:spPr>
          <a:xfrm>
            <a:off x="4937760" y="1874520"/>
            <a:ext cx="456840" cy="45684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 1" descr="/tmp/assets/icons/database_taupe.png"/>
          <p:cNvPicPr/>
          <p:nvPr/>
        </p:nvPicPr>
        <p:blipFill>
          <a:blip r:embed="rId4"/>
          <a:stretch/>
        </p:blipFill>
        <p:spPr>
          <a:xfrm>
            <a:off x="5056560" y="19933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35" name="Text 15"/>
          <p:cNvSpPr/>
          <p:nvPr/>
        </p:nvSpPr>
        <p:spPr>
          <a:xfrm>
            <a:off x="5468040" y="187452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F7A8C"/>
                </a:solidFill>
                <a:latin typeface="Calibri"/>
                <a:ea typeface="Calibri"/>
              </a:rPr>
              <a:t>Tier 1 — cached neural voice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6"/>
          <p:cNvSpPr/>
          <p:nvPr/>
        </p:nvSpPr>
        <p:spPr>
          <a:xfrm>
            <a:off x="5468040" y="213984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edge-tts Microsoft neural MP3s, pre-rendered once and replayed from disk at ~80 ms.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7"/>
          <p:cNvSpPr/>
          <p:nvPr/>
        </p:nvSpPr>
        <p:spPr>
          <a:xfrm>
            <a:off x="5029200" y="2788920"/>
            <a:ext cx="3383280" cy="360"/>
          </a:xfrm>
          <a:prstGeom prst="line">
            <a:avLst/>
          </a:prstGeom>
          <a:ln w="12700">
            <a:solidFill>
              <a:srgbClr val="D6C8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8"/>
          <p:cNvSpPr/>
          <p:nvPr/>
        </p:nvSpPr>
        <p:spPr>
          <a:xfrm>
            <a:off x="4937760" y="2926080"/>
            <a:ext cx="456840" cy="45684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9" name="Image 2" descr="/tmp/assets/icons/volume_teal.png"/>
          <p:cNvPicPr/>
          <p:nvPr/>
        </p:nvPicPr>
        <p:blipFill>
          <a:blip r:embed="rId5"/>
          <a:stretch/>
        </p:blipFill>
        <p:spPr>
          <a:xfrm>
            <a:off x="5056560" y="30448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340" name="Text 19"/>
          <p:cNvSpPr/>
          <p:nvPr/>
        </p:nvSpPr>
        <p:spPr>
          <a:xfrm>
            <a:off x="5468040" y="29260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746558"/>
                </a:solidFill>
                <a:latin typeface="Calibri"/>
                <a:ea typeface="Calibri"/>
              </a:rPr>
              <a:t>Tier 2 — instant fallback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0"/>
          <p:cNvSpPr/>
          <p:nvPr/>
        </p:nvSpPr>
        <p:spPr>
          <a:xfrm>
            <a:off x="5468040" y="319140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 dirty="0" err="1">
                <a:solidFill>
                  <a:srgbClr val="746558"/>
                </a:solidFill>
                <a:latin typeface="Calibri"/>
                <a:ea typeface="Calibri"/>
              </a:rPr>
              <a:t>espeak</a:t>
            </a:r>
            <a:r>
              <a:rPr lang="en-US" sz="10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-ng speaks immediately if a phrase isn't cached fully offline, never silent.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4937760" y="39502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8A7D6E"/>
                </a:solidFill>
                <a:latin typeface="Calibri"/>
                <a:ea typeface="Calibri"/>
              </a:rPr>
              <a:t>Speech-in: Google Web Speech API (en-US / ar-SA)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22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3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spc="-1" dirty="0">
                <a:solidFill>
                  <a:srgbClr val="8A7D6E"/>
                </a:solidFill>
                <a:latin typeface="Calibri"/>
                <a:ea typeface="Calibri"/>
              </a:rPr>
              <a:t>14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3764DB09-291A-D1F5-CD63-368170373182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4"/>
          <p:cNvSpPr/>
          <p:nvPr/>
        </p:nvSpPr>
        <p:spPr>
          <a:xfrm>
            <a:off x="502920" y="141732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685800" y="166428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Image 0" descr="/tmp/assets/icons/python_taupe.png"/>
          <p:cNvPicPr/>
          <p:nvPr/>
        </p:nvPicPr>
        <p:blipFill>
          <a:blip r:embed="rId3"/>
          <a:stretch/>
        </p:blipFill>
        <p:spPr>
          <a:xfrm>
            <a:off x="795240" y="177372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52" name="Text 6"/>
          <p:cNvSpPr/>
          <p:nvPr/>
        </p:nvSpPr>
        <p:spPr>
          <a:xfrm>
            <a:off x="1216080" y="15634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74A3B"/>
                </a:solidFill>
                <a:latin typeface="Calibri"/>
                <a:ea typeface="Calibri"/>
              </a:rPr>
              <a:t>Python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1216080" y="19202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Primary language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8"/>
          <p:cNvSpPr/>
          <p:nvPr/>
        </p:nvSpPr>
        <p:spPr>
          <a:xfrm>
            <a:off x="3269160" y="141732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3452040" y="166428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Image 1" descr="/tmp/assets/icons/brain_teal.png"/>
          <p:cNvPicPr/>
          <p:nvPr/>
        </p:nvPicPr>
        <p:blipFill>
          <a:blip r:embed="rId4"/>
          <a:stretch/>
        </p:blipFill>
        <p:spPr>
          <a:xfrm>
            <a:off x="3561120" y="177372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57" name="Text 10"/>
          <p:cNvSpPr/>
          <p:nvPr/>
        </p:nvSpPr>
        <p:spPr>
          <a:xfrm>
            <a:off x="3982320" y="15634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TensorFlow Lite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3982320" y="19202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On-device inference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2"/>
          <p:cNvSpPr/>
          <p:nvPr/>
        </p:nvSpPr>
        <p:spPr>
          <a:xfrm>
            <a:off x="6035040" y="141732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6217920" y="166428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 2" descr="/tmp/assets/icons/eye_teal.png"/>
          <p:cNvPicPr/>
          <p:nvPr/>
        </p:nvPicPr>
        <p:blipFill>
          <a:blip r:embed="rId5"/>
          <a:stretch/>
        </p:blipFill>
        <p:spPr>
          <a:xfrm>
            <a:off x="6327360" y="177372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62" name="Text 14"/>
          <p:cNvSpPr/>
          <p:nvPr/>
        </p:nvSpPr>
        <p:spPr>
          <a:xfrm>
            <a:off x="6748200" y="156348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74A3B"/>
                </a:solidFill>
                <a:latin typeface="Calibri"/>
                <a:ea typeface="Calibri"/>
              </a:rPr>
              <a:t>OpenCV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5"/>
          <p:cNvSpPr/>
          <p:nvPr/>
        </p:nvSpPr>
        <p:spPr>
          <a:xfrm>
            <a:off x="6748200" y="19202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Image processing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6"/>
          <p:cNvSpPr/>
          <p:nvPr/>
        </p:nvSpPr>
        <p:spPr>
          <a:xfrm>
            <a:off x="502920" y="247788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7"/>
          <p:cNvSpPr/>
          <p:nvPr/>
        </p:nvSpPr>
        <p:spPr>
          <a:xfrm>
            <a:off x="685800" y="272484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Image 3" descr="/tmp/assets/icons/microchip_taupe.png"/>
          <p:cNvPicPr/>
          <p:nvPr/>
        </p:nvPicPr>
        <p:blipFill>
          <a:blip r:embed="rId6"/>
          <a:stretch/>
        </p:blipFill>
        <p:spPr>
          <a:xfrm>
            <a:off x="795240" y="283428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67" name="Text 18"/>
          <p:cNvSpPr/>
          <p:nvPr/>
        </p:nvSpPr>
        <p:spPr>
          <a:xfrm>
            <a:off x="1216080" y="262440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74A3B"/>
                </a:solidFill>
                <a:latin typeface="Calibri"/>
                <a:ea typeface="Calibri"/>
              </a:rPr>
              <a:t>gpiozero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9"/>
          <p:cNvSpPr/>
          <p:nvPr/>
        </p:nvSpPr>
        <p:spPr>
          <a:xfrm>
            <a:off x="1216080" y="29808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GPIO control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0"/>
          <p:cNvSpPr/>
          <p:nvPr/>
        </p:nvSpPr>
        <p:spPr>
          <a:xfrm>
            <a:off x="3269160" y="247788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1"/>
          <p:cNvSpPr/>
          <p:nvPr/>
        </p:nvSpPr>
        <p:spPr>
          <a:xfrm>
            <a:off x="3452040" y="272484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4" descr="/tmp/assets/icons/camera_teal.png"/>
          <p:cNvPicPr/>
          <p:nvPr/>
        </p:nvPicPr>
        <p:blipFill>
          <a:blip r:embed="rId7"/>
          <a:stretch/>
        </p:blipFill>
        <p:spPr>
          <a:xfrm>
            <a:off x="3561120" y="283428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72" name="Text 22"/>
          <p:cNvSpPr/>
          <p:nvPr/>
        </p:nvSpPr>
        <p:spPr>
          <a:xfrm>
            <a:off x="3982320" y="262440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74A3B"/>
                </a:solidFill>
                <a:latin typeface="Calibri"/>
                <a:ea typeface="Calibri"/>
              </a:rPr>
              <a:t>Picamera2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3"/>
          <p:cNvSpPr/>
          <p:nvPr/>
        </p:nvSpPr>
        <p:spPr>
          <a:xfrm>
            <a:off x="3982320" y="29808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Camera capture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6035040" y="247788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6217920" y="272484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Image 5" descr="/tmp/assets/icons/mic_teal.png"/>
          <p:cNvPicPr/>
          <p:nvPr/>
        </p:nvPicPr>
        <p:blipFill>
          <a:blip r:embed="rId8"/>
          <a:stretch/>
        </p:blipFill>
        <p:spPr>
          <a:xfrm>
            <a:off x="6327360" y="283428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77" name="Text 26"/>
          <p:cNvSpPr/>
          <p:nvPr/>
        </p:nvSpPr>
        <p:spPr>
          <a:xfrm>
            <a:off x="6748200" y="262440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74A3B"/>
                </a:solidFill>
                <a:latin typeface="Calibri"/>
                <a:ea typeface="Calibri"/>
              </a:rPr>
              <a:t>SpeechRecognition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27"/>
          <p:cNvSpPr/>
          <p:nvPr/>
        </p:nvSpPr>
        <p:spPr>
          <a:xfrm>
            <a:off x="6748200" y="29808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Google Web Speech API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8"/>
          <p:cNvSpPr/>
          <p:nvPr/>
        </p:nvSpPr>
        <p:spPr>
          <a:xfrm>
            <a:off x="502920" y="353880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9"/>
          <p:cNvSpPr/>
          <p:nvPr/>
        </p:nvSpPr>
        <p:spPr>
          <a:xfrm>
            <a:off x="685800" y="378576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Image 6" descr="/tmp/assets/icons/volume_teal.png"/>
          <p:cNvPicPr/>
          <p:nvPr/>
        </p:nvPicPr>
        <p:blipFill>
          <a:blip r:embed="rId9"/>
          <a:stretch/>
        </p:blipFill>
        <p:spPr>
          <a:xfrm>
            <a:off x="795240" y="389484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82" name="Text 30"/>
          <p:cNvSpPr/>
          <p:nvPr/>
        </p:nvSpPr>
        <p:spPr>
          <a:xfrm>
            <a:off x="1216080" y="36849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edge-</a:t>
            </a:r>
            <a:r>
              <a:rPr lang="en-US" sz="1250" b="1" strike="noStrike" spc="-1" dirty="0" err="1">
                <a:solidFill>
                  <a:srgbClr val="574A3B"/>
                </a:solidFill>
                <a:latin typeface="Calibri"/>
                <a:ea typeface="Calibri"/>
              </a:rPr>
              <a:t>tts</a:t>
            </a:r>
            <a:r>
              <a:rPr lang="en-US" sz="12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 + </a:t>
            </a:r>
            <a:r>
              <a:rPr lang="en-US" sz="1250" b="1" strike="noStrike" spc="-1" dirty="0" err="1">
                <a:solidFill>
                  <a:srgbClr val="574A3B"/>
                </a:solidFill>
                <a:latin typeface="Calibri"/>
                <a:ea typeface="Calibri"/>
              </a:rPr>
              <a:t>espeak</a:t>
            </a:r>
            <a:r>
              <a:rPr lang="en-US" sz="12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-ng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1"/>
          <p:cNvSpPr/>
          <p:nvPr/>
        </p:nvSpPr>
        <p:spPr>
          <a:xfrm>
            <a:off x="1216080" y="40417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Neural TTS + fallback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2"/>
          <p:cNvSpPr/>
          <p:nvPr/>
        </p:nvSpPr>
        <p:spPr>
          <a:xfrm>
            <a:off x="3269160" y="353880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3"/>
          <p:cNvSpPr/>
          <p:nvPr/>
        </p:nvSpPr>
        <p:spPr>
          <a:xfrm>
            <a:off x="3452040" y="378576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6" name="Image 7" descr="/tmp/assets/icons/cloud_teal.png"/>
          <p:cNvPicPr/>
          <p:nvPr/>
        </p:nvPicPr>
        <p:blipFill>
          <a:blip r:embed="rId10"/>
          <a:stretch/>
        </p:blipFill>
        <p:spPr>
          <a:xfrm>
            <a:off x="3561120" y="389484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87" name="Text 34"/>
          <p:cNvSpPr/>
          <p:nvPr/>
        </p:nvSpPr>
        <p:spPr>
          <a:xfrm>
            <a:off x="3982320" y="36849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574A3B"/>
                </a:solidFill>
                <a:latin typeface="Calibri"/>
                <a:ea typeface="Calibri"/>
              </a:rPr>
              <a:t>google-genai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35"/>
          <p:cNvSpPr/>
          <p:nvPr/>
        </p:nvSpPr>
        <p:spPr>
          <a:xfrm>
            <a:off x="3982320" y="40417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Gemini 2.5 Flash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6"/>
          <p:cNvSpPr/>
          <p:nvPr/>
        </p:nvSpPr>
        <p:spPr>
          <a:xfrm>
            <a:off x="6035040" y="3538800"/>
            <a:ext cx="2605680" cy="91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7"/>
          <p:cNvSpPr/>
          <p:nvPr/>
        </p:nvSpPr>
        <p:spPr>
          <a:xfrm>
            <a:off x="6217920" y="3785760"/>
            <a:ext cx="420120" cy="42012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1" name="Image 8" descr="/tmp/assets/icons/stream_taupe.png"/>
          <p:cNvPicPr/>
          <p:nvPr/>
        </p:nvPicPr>
        <p:blipFill>
          <a:blip r:embed="rId11"/>
          <a:stretch/>
        </p:blipFill>
        <p:spPr>
          <a:xfrm>
            <a:off x="6327360" y="3894840"/>
            <a:ext cx="201600" cy="201600"/>
          </a:xfrm>
          <a:prstGeom prst="rect">
            <a:avLst/>
          </a:prstGeom>
          <a:ln w="0">
            <a:noFill/>
          </a:ln>
        </p:spPr>
      </p:pic>
      <p:sp>
        <p:nvSpPr>
          <p:cNvPr id="392" name="Text 38"/>
          <p:cNvSpPr/>
          <p:nvPr/>
        </p:nvSpPr>
        <p:spPr>
          <a:xfrm>
            <a:off x="6748200" y="3684960"/>
            <a:ext cx="1782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 dirty="0">
                <a:solidFill>
                  <a:srgbClr val="574A3B"/>
                </a:solidFill>
                <a:latin typeface="Calibri"/>
                <a:ea typeface="Calibri"/>
              </a:rPr>
              <a:t>threading</a:t>
            </a:r>
            <a:endParaRPr lang="en-US" sz="12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39"/>
          <p:cNvSpPr/>
          <p:nvPr/>
        </p:nvSpPr>
        <p:spPr>
          <a:xfrm>
            <a:off x="6748200" y="404172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46558"/>
                </a:solidFill>
                <a:latin typeface="Calibri"/>
                <a:ea typeface="Calibri"/>
              </a:rPr>
              <a:t>Concurrent dual loop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40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41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15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B7C19077-D98C-0499-DFC6-D2BA853453D0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8C41FBEB-4000-31F4-92BC-999E28E421C4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8C3F421-7B9A-46DA-4E2E-D97044F95E18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Technical tools &amp; languages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3D7B96E-51E4-AEDC-C991-532865FB0CBD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04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88962-055C-FB77-40B0-1D9C3672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18847C98-35FD-F98B-ED6E-AD27569BB4B7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F04B6787-D3DF-B9BC-789C-547912F8D06F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SYSTEM TESTING &amp; RESULTS</a:t>
            </a:r>
          </a:p>
        </p:txBody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64CF5618-E085-06A4-E513-5D3193F21248}"/>
              </a:ext>
            </a:extLst>
          </p:cNvPr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2">
            <a:extLst>
              <a:ext uri="{FF2B5EF4-FFF2-40B4-BE49-F238E27FC236}">
                <a16:creationId xmlns:a16="http://schemas.microsoft.com/office/drawing/2014/main" id="{3765436B-A96E-F441-7EA6-95428E9F08E7}"/>
              </a:ext>
            </a:extLst>
          </p:cNvPr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16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D86AD1C8-36E8-F9DF-209C-2FD2F297C58D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370F5E3-F487-2072-E7D7-7DE56B90DEB9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</a:t>
            </a:r>
            <a:r>
              <a:rPr lang="en-US" sz="3000" b="1" spc="-1" dirty="0">
                <a:solidFill>
                  <a:srgbClr val="746558"/>
                </a:solidFill>
                <a:latin typeface="Georgia"/>
                <a:ea typeface="Georgia"/>
              </a:rPr>
              <a:t>5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2F9530D1-A661-8458-8710-8ED0A0F392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39702331"/>
                  </p:ext>
                </p:extLst>
              </p:nvPr>
            </p:nvGraphicFramePr>
            <p:xfrm>
              <a:off x="842023" y="1686895"/>
              <a:ext cx="3913560" cy="2201378"/>
            </p:xfrm>
            <a:graphic>
              <a:graphicData uri="http://schemas.microsoft.com/office/powerpoint/2016/slidezoom">
                <pslz:sldZm>
                  <pslz:sldZmObj sldId="268" cId="0">
                    <pslz:zmPr id="{06EB4767-CF26-455F-A4C5-BF22B6DFDC3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13560" cy="220137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2F9530D1-A661-8458-8710-8ED0A0F392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023" y="1686895"/>
                <a:ext cx="3913560" cy="2201378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E335D97C-66C3-840B-E428-62591CFE53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7962293"/>
                  </p:ext>
                </p:extLst>
              </p:nvPr>
            </p:nvGraphicFramePr>
            <p:xfrm>
              <a:off x="4904545" y="1686894"/>
              <a:ext cx="3913560" cy="2201378"/>
            </p:xfrm>
            <a:graphic>
              <a:graphicData uri="http://schemas.microsoft.com/office/powerpoint/2016/slidezoom">
                <pslz:sldZm>
                  <pslz:sldZmObj sldId="269" cId="0">
                    <pslz:zmPr id="{E88BF762-A78A-4A0C-AE38-F9797EA0295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13560" cy="220137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E335D97C-66C3-840B-E428-62591CFE53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04545" y="1686894"/>
                <a:ext cx="3913560" cy="2201378"/>
              </a:xfrm>
              <a:prstGeom prst="rect">
                <a:avLst/>
              </a:prstGeom>
              <a:ln w="3175"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67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 dirty="0">
                <a:solidFill>
                  <a:srgbClr val="1F7A8C"/>
                </a:solidFill>
                <a:latin typeface="Calibri"/>
                <a:ea typeface="Calibri"/>
              </a:rPr>
              <a:t>SYSTEM TESTING &amp; RESULTS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Testing strategy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4"/>
          <p:cNvSpPr/>
          <p:nvPr/>
        </p:nvSpPr>
        <p:spPr>
          <a:xfrm>
            <a:off x="502920" y="1371600"/>
            <a:ext cx="2605680" cy="315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5"/>
          <p:cNvSpPr/>
          <p:nvPr/>
        </p:nvSpPr>
        <p:spPr>
          <a:xfrm>
            <a:off x="502920" y="1371600"/>
            <a:ext cx="2605680" cy="72720"/>
          </a:xfrm>
          <a:prstGeom prst="rect">
            <a:avLst/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704160" y="164592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3" name="Image 0" descr="/tmp/assets/icons/vial_teal.png"/>
          <p:cNvPicPr/>
          <p:nvPr/>
        </p:nvPicPr>
        <p:blipFill>
          <a:blip r:embed="rId3"/>
          <a:stretch/>
        </p:blipFill>
        <p:spPr>
          <a:xfrm>
            <a:off x="861120" y="18028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04" name="Text 7"/>
          <p:cNvSpPr/>
          <p:nvPr/>
        </p:nvSpPr>
        <p:spPr>
          <a:xfrm>
            <a:off x="1417320" y="16642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74A3B"/>
                </a:solidFill>
                <a:latin typeface="Georgia"/>
                <a:ea typeface="Georgia"/>
              </a:rPr>
              <a:t>Unit testing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8"/>
          <p:cNvSpPr/>
          <p:nvPr/>
        </p:nvSpPr>
        <p:spPr>
          <a:xfrm>
            <a:off x="1417320" y="19749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746558"/>
                </a:solidFill>
                <a:latin typeface="Calibri"/>
                <a:ea typeface="Calibri"/>
              </a:rPr>
              <a:t>Each module in isolation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9"/>
          <p:cNvSpPr/>
          <p:nvPr/>
        </p:nvSpPr>
        <p:spPr>
          <a:xfrm>
            <a:off x="703800" y="2450520"/>
            <a:ext cx="2203920" cy="360"/>
          </a:xfrm>
          <a:prstGeom prst="line">
            <a:avLst/>
          </a:prstGeom>
          <a:ln w="12700">
            <a:solidFill>
              <a:srgbClr val="D6C8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0"/>
          <p:cNvSpPr/>
          <p:nvPr/>
        </p:nvSpPr>
        <p:spPr>
          <a:xfrm>
            <a:off x="722520" y="2578680"/>
            <a:ext cx="2185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4C4438"/>
                </a:solidFill>
                <a:latin typeface="Calibri"/>
                <a:ea typeface="Calibri"/>
              </a:rPr>
              <a:t>Ultrasonic + button via hardware test script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4C4438"/>
                </a:solidFill>
                <a:latin typeface="Calibri"/>
                <a:ea typeface="Calibri"/>
              </a:rPr>
              <a:t>Live detector drawing test (boxes + confidence)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>
                <a:solidFill>
                  <a:srgbClr val="4C4438"/>
                </a:solidFill>
                <a:latin typeface="Calibri"/>
                <a:ea typeface="Calibri"/>
              </a:rPr>
              <a:t>Audio &amp; assistant modules verified separately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3269160" y="1371600"/>
            <a:ext cx="2605680" cy="315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3269160" y="1371600"/>
            <a:ext cx="2605680" cy="72720"/>
          </a:xfrm>
          <a:prstGeom prst="rect">
            <a:avLst/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3470040" y="164592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Image 1" descr="/tmp/assets/icons/plug_teal.png"/>
          <p:cNvPicPr/>
          <p:nvPr/>
        </p:nvPicPr>
        <p:blipFill>
          <a:blip r:embed="rId4"/>
          <a:stretch/>
        </p:blipFill>
        <p:spPr>
          <a:xfrm>
            <a:off x="3627000" y="18028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12" name="Text 14"/>
          <p:cNvSpPr/>
          <p:nvPr/>
        </p:nvSpPr>
        <p:spPr>
          <a:xfrm>
            <a:off x="4183560" y="16642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74A3B"/>
                </a:solidFill>
                <a:latin typeface="Georgia"/>
                <a:ea typeface="Georgia"/>
              </a:rPr>
              <a:t>Integration testing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4183560" y="19749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746558"/>
                </a:solidFill>
                <a:latin typeface="Calibri"/>
                <a:ea typeface="Calibri"/>
              </a:rPr>
              <a:t>The dual loop under load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6"/>
          <p:cNvSpPr/>
          <p:nvPr/>
        </p:nvSpPr>
        <p:spPr>
          <a:xfrm>
            <a:off x="3470040" y="2450520"/>
            <a:ext cx="2203560" cy="360"/>
          </a:xfrm>
          <a:prstGeom prst="line">
            <a:avLst/>
          </a:prstGeom>
          <a:ln w="12700">
            <a:solidFill>
              <a:srgbClr val="D6C8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17"/>
          <p:cNvSpPr/>
          <p:nvPr/>
        </p:nvSpPr>
        <p:spPr>
          <a:xfrm>
            <a:off x="3488400" y="2578680"/>
            <a:ext cx="2185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Concurrency Cognitive Loop never starves Safety</a:t>
            </a: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Pin-26 button debounce no accidental double-triggers</a:t>
            </a: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Thermal endurance 1 hour continuous detection</a:t>
            </a:r>
          </a:p>
        </p:txBody>
      </p:sp>
      <p:sp>
        <p:nvSpPr>
          <p:cNvPr id="416" name="Shape 18"/>
          <p:cNvSpPr/>
          <p:nvPr/>
        </p:nvSpPr>
        <p:spPr>
          <a:xfrm>
            <a:off x="6035040" y="1371600"/>
            <a:ext cx="2605680" cy="315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9"/>
          <p:cNvSpPr/>
          <p:nvPr/>
        </p:nvSpPr>
        <p:spPr>
          <a:xfrm>
            <a:off x="6035040" y="1371600"/>
            <a:ext cx="2605680" cy="72720"/>
          </a:xfrm>
          <a:prstGeom prst="rect">
            <a:avLst/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20"/>
          <p:cNvSpPr/>
          <p:nvPr/>
        </p:nvSpPr>
        <p:spPr>
          <a:xfrm>
            <a:off x="6236280" y="164592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9" name="Image 2" descr="/tmp/assets/icons/users_teal.png"/>
          <p:cNvPicPr/>
          <p:nvPr/>
        </p:nvPicPr>
        <p:blipFill>
          <a:blip r:embed="rId5"/>
          <a:stretch/>
        </p:blipFill>
        <p:spPr>
          <a:xfrm>
            <a:off x="6393240" y="18028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20" name="Text 21"/>
          <p:cNvSpPr/>
          <p:nvPr/>
        </p:nvSpPr>
        <p:spPr>
          <a:xfrm>
            <a:off x="6949440" y="1664280"/>
            <a:ext cx="1599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74A3B"/>
                </a:solidFill>
                <a:latin typeface="Georgia"/>
                <a:ea typeface="Georgia"/>
              </a:rPr>
              <a:t>User acceptance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22"/>
          <p:cNvSpPr/>
          <p:nvPr/>
        </p:nvSpPr>
        <p:spPr>
          <a:xfrm>
            <a:off x="6949440" y="19749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746558"/>
                </a:solidFill>
                <a:latin typeface="Calibri"/>
                <a:ea typeface="Calibri"/>
              </a:rPr>
              <a:t>Real navigation scenarios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23"/>
          <p:cNvSpPr/>
          <p:nvPr/>
        </p:nvSpPr>
        <p:spPr>
          <a:xfrm>
            <a:off x="6235920" y="2450520"/>
            <a:ext cx="2203920" cy="360"/>
          </a:xfrm>
          <a:prstGeom prst="line">
            <a:avLst/>
          </a:prstGeom>
          <a:ln w="12700">
            <a:solidFill>
              <a:srgbClr val="D6C8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24"/>
          <p:cNvSpPr/>
          <p:nvPr/>
        </p:nvSpPr>
        <p:spPr>
          <a:xfrm>
            <a:off x="6254640" y="2578680"/>
            <a:ext cx="218520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Static obstacle: chair at 1 m → fused proximity alert</a:t>
            </a: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Dynamic hazard: person crossing detected early</a:t>
            </a:r>
          </a:p>
          <a:p>
            <a:pPr marL="177840" indent="-177840" defTabSz="914400">
              <a:lnSpc>
                <a:spcPct val="100000"/>
              </a:lnSpc>
              <a:spcAft>
                <a:spcPts val="901"/>
              </a:spcAft>
              <a:buClr>
                <a:srgbClr val="4C4438"/>
              </a:buClr>
              <a:buFont typeface="Symbol" charset="2"/>
              <a:buChar char=""/>
            </a:pPr>
            <a:r>
              <a:rPr lang="en-US" sz="10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Cognitive query: Gemini describes a cluttered table</a:t>
            </a:r>
          </a:p>
        </p:txBody>
      </p:sp>
      <p:sp>
        <p:nvSpPr>
          <p:cNvPr id="424" name="Text 25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26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17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3CB698E3-BA3A-0527-6FF5-CB5292F8A78E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 2"/>
          <p:cNvSpPr/>
          <p:nvPr/>
        </p:nvSpPr>
        <p:spPr>
          <a:xfrm>
            <a:off x="1325880" y="365760"/>
            <a:ext cx="7314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199">
                <a:solidFill>
                  <a:srgbClr val="1F7A8C"/>
                </a:solidFill>
                <a:latin typeface="Calibri"/>
                <a:ea typeface="Calibri"/>
              </a:rPr>
              <a:t>SYSTEM TESTING &amp; RESULTS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3"/>
          <p:cNvSpPr/>
          <p:nvPr/>
        </p:nvSpPr>
        <p:spPr>
          <a:xfrm>
            <a:off x="1325880" y="5760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574A3B"/>
                </a:solidFill>
                <a:latin typeface="Georgia"/>
                <a:ea typeface="Georgia"/>
              </a:rPr>
              <a:t>Measured results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4"/>
          <p:cNvSpPr/>
          <p:nvPr/>
        </p:nvSpPr>
        <p:spPr>
          <a:xfrm>
            <a:off x="502920" y="1371600"/>
            <a:ext cx="19382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5"/>
          <p:cNvSpPr/>
          <p:nvPr/>
        </p:nvSpPr>
        <p:spPr>
          <a:xfrm>
            <a:off x="1225440" y="1517760"/>
            <a:ext cx="493560" cy="4935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2" name="Image 0" descr="/tmp/assets/icons/bolt_teal.png"/>
          <p:cNvPicPr/>
          <p:nvPr/>
        </p:nvPicPr>
        <p:blipFill>
          <a:blip r:embed="rId3"/>
          <a:stretch/>
        </p:blipFill>
        <p:spPr>
          <a:xfrm>
            <a:off x="1353600" y="1646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433" name="Text 6"/>
          <p:cNvSpPr/>
          <p:nvPr/>
        </p:nvSpPr>
        <p:spPr>
          <a:xfrm>
            <a:off x="502920" y="19749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1F7A8C"/>
                </a:solidFill>
                <a:latin typeface="Georgia"/>
                <a:ea typeface="Georgia"/>
              </a:rPr>
              <a:t>~150 ms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7"/>
          <p:cNvSpPr/>
          <p:nvPr/>
        </p:nvSpPr>
        <p:spPr>
          <a:xfrm>
            <a:off x="576000" y="2340720"/>
            <a:ext cx="1791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Safety-loop latency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8"/>
          <p:cNvSpPr/>
          <p:nvPr/>
        </p:nvSpPr>
        <p:spPr>
          <a:xfrm>
            <a:off x="2569320" y="1371600"/>
            <a:ext cx="19382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9"/>
          <p:cNvSpPr/>
          <p:nvPr/>
        </p:nvSpPr>
        <p:spPr>
          <a:xfrm>
            <a:off x="3291840" y="1517760"/>
            <a:ext cx="493560" cy="4935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7" name="Image 1" descr="/tmp/assets/icons/clock_teal.png"/>
          <p:cNvPicPr/>
          <p:nvPr/>
        </p:nvPicPr>
        <p:blipFill>
          <a:blip r:embed="rId4"/>
          <a:stretch/>
        </p:blipFill>
        <p:spPr>
          <a:xfrm>
            <a:off x="3420360" y="1646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438" name="Text 10"/>
          <p:cNvSpPr/>
          <p:nvPr/>
        </p:nvSpPr>
        <p:spPr>
          <a:xfrm>
            <a:off x="2569320" y="19749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1F7A8C"/>
                </a:solidFill>
                <a:latin typeface="Georgia"/>
                <a:ea typeface="Georgia"/>
              </a:rPr>
              <a:t>~2.5 s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1"/>
          <p:cNvSpPr/>
          <p:nvPr/>
        </p:nvSpPr>
        <p:spPr>
          <a:xfrm>
            <a:off x="2642760" y="2340720"/>
            <a:ext cx="1791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Gemini response (avg)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2"/>
          <p:cNvSpPr/>
          <p:nvPr/>
        </p:nvSpPr>
        <p:spPr>
          <a:xfrm>
            <a:off x="4636080" y="1371600"/>
            <a:ext cx="19382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3"/>
          <p:cNvSpPr/>
          <p:nvPr/>
        </p:nvSpPr>
        <p:spPr>
          <a:xfrm>
            <a:off x="5358240" y="1517760"/>
            <a:ext cx="493560" cy="4935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2" name="Image 2" descr="/tmp/assets/icons/bullseye_teal.png"/>
          <p:cNvPicPr/>
          <p:nvPr/>
        </p:nvPicPr>
        <p:blipFill>
          <a:blip r:embed="rId5"/>
          <a:stretch/>
        </p:blipFill>
        <p:spPr>
          <a:xfrm>
            <a:off x="5486760" y="1646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443" name="Text 14"/>
          <p:cNvSpPr/>
          <p:nvPr/>
        </p:nvSpPr>
        <p:spPr>
          <a:xfrm>
            <a:off x="4636080" y="19749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 dirty="0">
                <a:solidFill>
                  <a:srgbClr val="1F7A8C"/>
                </a:solidFill>
                <a:latin typeface="Georgia"/>
                <a:ea typeface="Georgia"/>
              </a:rPr>
              <a:t>&gt;80%</a:t>
            </a:r>
            <a:endParaRPr lang="en-US" sz="2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15"/>
          <p:cNvSpPr/>
          <p:nvPr/>
        </p:nvSpPr>
        <p:spPr>
          <a:xfrm>
            <a:off x="4709160" y="2340720"/>
            <a:ext cx="1791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Detection confidence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6"/>
          <p:cNvSpPr/>
          <p:nvPr/>
        </p:nvSpPr>
        <p:spPr>
          <a:xfrm>
            <a:off x="6702480" y="1371600"/>
            <a:ext cx="193824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7"/>
          <p:cNvSpPr/>
          <p:nvPr/>
        </p:nvSpPr>
        <p:spPr>
          <a:xfrm>
            <a:off x="7425000" y="1517760"/>
            <a:ext cx="493560" cy="49356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7" name="Image 3" descr="/tmp/assets/icons/temp_teal.png"/>
          <p:cNvPicPr/>
          <p:nvPr/>
        </p:nvPicPr>
        <p:blipFill>
          <a:blip r:embed="rId6"/>
          <a:stretch/>
        </p:blipFill>
        <p:spPr>
          <a:xfrm>
            <a:off x="7553160" y="1646280"/>
            <a:ext cx="236520" cy="236520"/>
          </a:xfrm>
          <a:prstGeom prst="rect">
            <a:avLst/>
          </a:prstGeom>
          <a:ln w="0">
            <a:noFill/>
          </a:ln>
        </p:spPr>
      </p:pic>
      <p:sp>
        <p:nvSpPr>
          <p:cNvPr id="448" name="Text 18"/>
          <p:cNvSpPr/>
          <p:nvPr/>
        </p:nvSpPr>
        <p:spPr>
          <a:xfrm>
            <a:off x="6702480" y="1974960"/>
            <a:ext cx="1938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1F7A8C"/>
                </a:solidFill>
                <a:latin typeface="Georgia"/>
                <a:ea typeface="Georgia"/>
              </a:rPr>
              <a:t>~68°C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6775560" y="2340720"/>
            <a:ext cx="1791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46558"/>
                </a:solidFill>
                <a:latin typeface="Calibri"/>
                <a:ea typeface="Calibri"/>
              </a:rPr>
              <a:t>CPU under load · no throttling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0"/>
          <p:cNvSpPr/>
          <p:nvPr/>
        </p:nvSpPr>
        <p:spPr>
          <a:xfrm>
            <a:off x="502920" y="2834640"/>
            <a:ext cx="5074560" cy="1691280"/>
          </a:xfrm>
          <a:prstGeom prst="rect">
            <a:avLst/>
          </a:prstGeom>
          <a:solidFill>
            <a:srgbClr val="F2EDE3"/>
          </a:solidFill>
          <a:ln w="12700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1"/>
          <p:cNvSpPr/>
          <p:nvPr/>
        </p:nvSpPr>
        <p:spPr>
          <a:xfrm>
            <a:off x="704160" y="30358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2" name="Image 4" descr="/tmp/assets/icons/shield_teal.png"/>
          <p:cNvPicPr/>
          <p:nvPr/>
        </p:nvPicPr>
        <p:blipFill>
          <a:blip r:embed="rId7"/>
          <a:stretch/>
        </p:blipFill>
        <p:spPr>
          <a:xfrm>
            <a:off x="846720" y="3178440"/>
            <a:ext cx="263160" cy="263160"/>
          </a:xfrm>
          <a:prstGeom prst="rect">
            <a:avLst/>
          </a:prstGeom>
          <a:ln w="0">
            <a:noFill/>
          </a:ln>
        </p:spPr>
      </p:pic>
      <p:sp>
        <p:nvSpPr>
          <p:cNvPr id="453" name="Text 22"/>
          <p:cNvSpPr/>
          <p:nvPr/>
        </p:nvSpPr>
        <p:spPr>
          <a:xfrm>
            <a:off x="1371600" y="30358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574A3B"/>
                </a:solidFill>
                <a:latin typeface="Georgia"/>
                <a:ea typeface="Georgia"/>
              </a:rPr>
              <a:t>Sensor fusion = fail-safe redundancy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23"/>
          <p:cNvSpPr/>
          <p:nvPr/>
        </p:nvSpPr>
        <p:spPr>
          <a:xfrm>
            <a:off x="1371600" y="3383280"/>
            <a:ext cx="40687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4C4438"/>
                </a:solidFill>
                <a:latin typeface="Calibri"/>
                <a:ea typeface="Calibri"/>
              </a:rPr>
              <a:t>When the camera can't classify an object glass doors, low light the HC-SR04 still delivers a proximity warning. The user is never left unprotected.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27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8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18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856D8B91-4E2D-D075-6707-B3D5BA307D45}"/>
              </a:ext>
            </a:extLst>
          </p:cNvPr>
          <p:cNvSpPr/>
          <p:nvPr/>
        </p:nvSpPr>
        <p:spPr>
          <a:xfrm>
            <a:off x="-360" y="1059395"/>
            <a:ext cx="9144000" cy="200881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ar-SA" sz="4800" dirty="0"/>
          </a:p>
        </p:txBody>
      </p:sp>
      <p:pic>
        <p:nvPicPr>
          <p:cNvPr id="3" name="Image 5" descr="/tmp/assets/device.png">
            <a:extLst>
              <a:ext uri="{FF2B5EF4-FFF2-40B4-BE49-F238E27FC236}">
                <a16:creationId xmlns:a16="http://schemas.microsoft.com/office/drawing/2014/main" id="{FE04B7AF-8220-AA32-1C62-0F0150F8ABBE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5513760" y="2943720"/>
            <a:ext cx="1690920" cy="1231105"/>
          </a:xfrm>
          <a:prstGeom prst="rect">
            <a:avLst/>
          </a:prstGeom>
          <a:ln w="0">
            <a:noFill/>
          </a:ln>
        </p:spPr>
      </p:pic>
      <p:pic>
        <p:nvPicPr>
          <p:cNvPr id="4" name="Image 6" descr="/tmp/assets/detect_real.png">
            <a:extLst>
              <a:ext uri="{FF2B5EF4-FFF2-40B4-BE49-F238E27FC236}">
                <a16:creationId xmlns:a16="http://schemas.microsoft.com/office/drawing/2014/main" id="{ED2172A4-8F2F-5880-1545-A2F98E55E759}"/>
              </a:ext>
            </a:extLst>
          </p:cNvPr>
          <p:cNvPicPr/>
          <p:nvPr/>
        </p:nvPicPr>
        <p:blipFill>
          <a:blip r:embed="rId9"/>
          <a:srcRect l="3964"/>
          <a:stretch>
            <a:fillRect/>
          </a:stretch>
        </p:blipFill>
        <p:spPr>
          <a:xfrm>
            <a:off x="7323840" y="2853000"/>
            <a:ext cx="1316880" cy="1371240"/>
          </a:xfrm>
          <a:prstGeom prst="rect">
            <a:avLst/>
          </a:prstGeom>
          <a:ln w="0">
            <a:noFill/>
          </a:ln>
        </p:spPr>
      </p:pic>
      <p:sp>
        <p:nvSpPr>
          <p:cNvPr id="5" name="Text 24">
            <a:extLst>
              <a:ext uri="{FF2B5EF4-FFF2-40B4-BE49-F238E27FC236}">
                <a16:creationId xmlns:a16="http://schemas.microsoft.com/office/drawing/2014/main" id="{3E442737-3C6A-AF26-3014-AE7683BEB1BD}"/>
              </a:ext>
            </a:extLst>
          </p:cNvPr>
          <p:cNvSpPr/>
          <p:nvPr/>
        </p:nvSpPr>
        <p:spPr>
          <a:xfrm>
            <a:off x="5806440" y="42609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8A7D6E"/>
                </a:solidFill>
                <a:latin typeface="Calibri"/>
                <a:ea typeface="Calibri"/>
              </a:rPr>
              <a:t>Assembled prototype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5E07F18F-365D-E410-577D-153E9FA24243}"/>
              </a:ext>
            </a:extLst>
          </p:cNvPr>
          <p:cNvSpPr/>
          <p:nvPr/>
        </p:nvSpPr>
        <p:spPr>
          <a:xfrm>
            <a:off x="7269480" y="426096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 dirty="0">
                <a:solidFill>
                  <a:srgbClr val="8A7D6E"/>
                </a:solidFill>
                <a:latin typeface="Calibri"/>
                <a:ea typeface="Calibri"/>
              </a:rPr>
              <a:t>Live detection output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"/>
          <p:cNvSpPr/>
          <p:nvPr/>
        </p:nvSpPr>
        <p:spPr>
          <a:xfrm>
            <a:off x="502920" y="1371600"/>
            <a:ext cx="813780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5"/>
          <p:cNvSpPr/>
          <p:nvPr/>
        </p:nvSpPr>
        <p:spPr>
          <a:xfrm>
            <a:off x="502920" y="1371600"/>
            <a:ext cx="72720" cy="1005480"/>
          </a:xfrm>
          <a:prstGeom prst="rect">
            <a:avLst/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6"/>
          <p:cNvSpPr/>
          <p:nvPr/>
        </p:nvSpPr>
        <p:spPr>
          <a:xfrm>
            <a:off x="777240" y="157284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8" name="Image 0" descr="/tmp/assets/icons/scale_taupe.png"/>
          <p:cNvPicPr/>
          <p:nvPr/>
        </p:nvPicPr>
        <p:blipFill>
          <a:blip r:embed="rId3"/>
          <a:stretch/>
        </p:blipFill>
        <p:spPr>
          <a:xfrm>
            <a:off x="934200" y="17298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69" name="Text 7"/>
          <p:cNvSpPr/>
          <p:nvPr/>
        </p:nvSpPr>
        <p:spPr>
          <a:xfrm>
            <a:off x="1554480" y="151776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The speed accuracy trade-off</a:t>
            </a:r>
            <a:endParaRPr lang="en-US" sz="15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8"/>
          <p:cNvSpPr/>
          <p:nvPr/>
        </p:nvSpPr>
        <p:spPr>
          <a:xfrm>
            <a:off x="1554480" y="1847160"/>
            <a:ext cx="6903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For a safety wearable, dependable real-time inference outweighs a few points of </a:t>
            </a:r>
            <a:r>
              <a:rPr lang="en-US" sz="1150" b="0" strike="noStrike" spc="-1" dirty="0" err="1">
                <a:solidFill>
                  <a:srgbClr val="746558"/>
                </a:solidFill>
                <a:latin typeface="Calibri"/>
                <a:ea typeface="Calibri"/>
              </a:rPr>
              <a:t>mAP</a:t>
            </a: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 so SSD-</a:t>
            </a:r>
            <a:r>
              <a:rPr lang="en-US" sz="1150" b="0" strike="noStrike" spc="-1" dirty="0" err="1">
                <a:solidFill>
                  <a:srgbClr val="746558"/>
                </a:solidFill>
                <a:latin typeface="Calibri"/>
                <a:ea typeface="Calibri"/>
              </a:rPr>
              <a:t>MobileNet</a:t>
            </a: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 was the right choice over the more accurate YOLO baseline.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9"/>
          <p:cNvSpPr/>
          <p:nvPr/>
        </p:nvSpPr>
        <p:spPr>
          <a:xfrm>
            <a:off x="502920" y="2487240"/>
            <a:ext cx="813780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0"/>
          <p:cNvSpPr/>
          <p:nvPr/>
        </p:nvSpPr>
        <p:spPr>
          <a:xfrm>
            <a:off x="502920" y="2487240"/>
            <a:ext cx="72720" cy="1005480"/>
          </a:xfrm>
          <a:prstGeom prst="rect">
            <a:avLst/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1"/>
          <p:cNvSpPr/>
          <p:nvPr/>
        </p:nvSpPr>
        <p:spPr>
          <a:xfrm>
            <a:off x="777240" y="268848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Image 1" descr="/tmp/assets/icons/shield_teal.png"/>
          <p:cNvPicPr/>
          <p:nvPr/>
        </p:nvPicPr>
        <p:blipFill>
          <a:blip r:embed="rId4"/>
          <a:stretch/>
        </p:blipFill>
        <p:spPr>
          <a:xfrm>
            <a:off x="934200" y="28450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75" name="Text 12"/>
          <p:cNvSpPr/>
          <p:nvPr/>
        </p:nvSpPr>
        <p:spPr>
          <a:xfrm>
            <a:off x="1554480" y="263340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Sensor fusion is the fail-safe</a:t>
            </a:r>
            <a:endParaRPr lang="en-US" sz="15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13"/>
          <p:cNvSpPr/>
          <p:nvPr/>
        </p:nvSpPr>
        <p:spPr>
          <a:xfrm>
            <a:off x="1554480" y="2962800"/>
            <a:ext cx="6903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Pairing vision with ultrasonic ranging covers the perception gaps that defeat vision-only devices the system degrades gracefully, never silently.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4"/>
          <p:cNvSpPr/>
          <p:nvPr/>
        </p:nvSpPr>
        <p:spPr>
          <a:xfrm>
            <a:off x="502920" y="3602880"/>
            <a:ext cx="813780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5"/>
          <p:cNvSpPr/>
          <p:nvPr/>
        </p:nvSpPr>
        <p:spPr>
          <a:xfrm>
            <a:off x="502920" y="3602880"/>
            <a:ext cx="72720" cy="1005480"/>
          </a:xfrm>
          <a:prstGeom prst="rect">
            <a:avLst/>
          </a:prstGeom>
          <a:solidFill>
            <a:srgbClr val="B070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Shape 16"/>
          <p:cNvSpPr/>
          <p:nvPr/>
        </p:nvSpPr>
        <p:spPr>
          <a:xfrm>
            <a:off x="777240" y="380376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0" name="Image 2" descr="/tmp/assets/icons/warn_rust.png"/>
          <p:cNvPicPr/>
          <p:nvPr/>
        </p:nvPicPr>
        <p:blipFill>
          <a:blip r:embed="rId5"/>
          <a:stretch/>
        </p:blipFill>
        <p:spPr>
          <a:xfrm>
            <a:off x="934200" y="396072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81" name="Text 17"/>
          <p:cNvSpPr/>
          <p:nvPr/>
        </p:nvSpPr>
        <p:spPr>
          <a:xfrm>
            <a:off x="1554480" y="3749040"/>
            <a:ext cx="68576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574A3B"/>
                </a:solidFill>
                <a:latin typeface="Georgia"/>
                <a:ea typeface="Georgia"/>
              </a:rPr>
              <a:t>Honest limitations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18"/>
          <p:cNvSpPr/>
          <p:nvPr/>
        </p:nvSpPr>
        <p:spPr>
          <a:xfrm>
            <a:off x="1554480" y="4078080"/>
            <a:ext cx="6903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Battery life limits continuous all-day wear, and the Cognitive Loop needs connectivity though the Safety Loop remains fully offline.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19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20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19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2BF4AAC6-3F9F-3045-8755-86E4CC61FB2A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990B4D5F-874B-3A91-EC27-66C38BF4B72F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578243C-D1C8-8820-D096-2C5FFA9EE2A2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DISCUSSION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6B9B0BC-EAD0-46AF-B51B-8AB9E9629ECA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</a:t>
            </a:r>
            <a:r>
              <a:rPr lang="en-US" sz="3000" b="1" spc="-1" dirty="0">
                <a:solidFill>
                  <a:srgbClr val="746558"/>
                </a:solidFill>
                <a:latin typeface="Georgia"/>
                <a:ea typeface="Georgia"/>
              </a:rPr>
              <a:t>6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"/>
          <p:cNvSpPr/>
          <p:nvPr/>
        </p:nvSpPr>
        <p:spPr>
          <a:xfrm>
            <a:off x="502920" y="1371600"/>
            <a:ext cx="8137800" cy="1051200"/>
          </a:xfrm>
          <a:prstGeom prst="rect">
            <a:avLst/>
          </a:prstGeom>
          <a:solidFill>
            <a:srgbClr val="F2EDE3"/>
          </a:solidFill>
          <a:ln w="12700">
            <a:solidFill>
              <a:srgbClr val="C9B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758880" y="1591200"/>
            <a:ext cx="603000" cy="603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1" name="Image 0" descr="/tmp/assets/icons/check_teal.png"/>
          <p:cNvPicPr/>
          <p:nvPr/>
        </p:nvPicPr>
        <p:blipFill>
          <a:blip r:embed="rId3"/>
          <a:stretch/>
        </p:blipFill>
        <p:spPr>
          <a:xfrm>
            <a:off x="915840" y="17478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92" name="Text 6"/>
          <p:cNvSpPr/>
          <p:nvPr/>
        </p:nvSpPr>
        <p:spPr>
          <a:xfrm>
            <a:off x="1554480" y="1371600"/>
            <a:ext cx="68576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All five objectives achieved VIAD is built, tested, and working.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7"/>
          <p:cNvSpPr/>
          <p:nvPr/>
        </p:nvSpPr>
        <p:spPr>
          <a:xfrm>
            <a:off x="502920" y="2606040"/>
            <a:ext cx="26056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8"/>
          <p:cNvSpPr/>
          <p:nvPr/>
        </p:nvSpPr>
        <p:spPr>
          <a:xfrm>
            <a:off x="731520" y="284364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5" name="Image 1" descr="/tmp/assets/icons/sync_taupe.png"/>
          <p:cNvPicPr/>
          <p:nvPr/>
        </p:nvPicPr>
        <p:blipFill>
          <a:blip r:embed="rId4"/>
          <a:stretch/>
        </p:blipFill>
        <p:spPr>
          <a:xfrm>
            <a:off x="888480" y="3000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496" name="Text 9"/>
          <p:cNvSpPr/>
          <p:nvPr/>
        </p:nvSpPr>
        <p:spPr>
          <a:xfrm>
            <a:off x="704160" y="3557160"/>
            <a:ext cx="2203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74A3B"/>
                </a:solidFill>
                <a:latin typeface="Georgia"/>
                <a:ea typeface="Georgia"/>
              </a:rPr>
              <a:t>Edge + cloud, together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10"/>
          <p:cNvSpPr/>
          <p:nvPr/>
        </p:nvSpPr>
        <p:spPr>
          <a:xfrm>
            <a:off x="704160" y="392292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Offline Safety Loop for immediate protection; online Cognitive Loop for understanding.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11"/>
          <p:cNvSpPr/>
          <p:nvPr/>
        </p:nvSpPr>
        <p:spPr>
          <a:xfrm>
            <a:off x="3269160" y="2606040"/>
            <a:ext cx="26056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2"/>
          <p:cNvSpPr/>
          <p:nvPr/>
        </p:nvSpPr>
        <p:spPr>
          <a:xfrm>
            <a:off x="3497760" y="284364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0" name="Image 2" descr="/tmp/assets/icons/glasses_teal.png"/>
          <p:cNvPicPr/>
          <p:nvPr/>
        </p:nvPicPr>
        <p:blipFill>
          <a:blip r:embed="rId5"/>
          <a:stretch/>
        </p:blipFill>
        <p:spPr>
          <a:xfrm>
            <a:off x="3654360" y="3000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01" name="Text 13"/>
          <p:cNvSpPr/>
          <p:nvPr/>
        </p:nvSpPr>
        <p:spPr>
          <a:xfrm>
            <a:off x="3470040" y="3557160"/>
            <a:ext cx="2203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74A3B"/>
                </a:solidFill>
                <a:latin typeface="Georgia"/>
                <a:ea typeface="Georgia"/>
              </a:rPr>
              <a:t>Affordable &amp; wearable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14"/>
          <p:cNvSpPr/>
          <p:nvPr/>
        </p:nvSpPr>
        <p:spPr>
          <a:xfrm>
            <a:off x="3470040" y="392292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A Raspberry Pi and open tools deliver capability that commercial glasses charge thousands for.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5"/>
          <p:cNvSpPr/>
          <p:nvPr/>
        </p:nvSpPr>
        <p:spPr>
          <a:xfrm>
            <a:off x="6035040" y="2606040"/>
            <a:ext cx="26056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6"/>
          <p:cNvSpPr/>
          <p:nvPr/>
        </p:nvSpPr>
        <p:spPr>
          <a:xfrm>
            <a:off x="6263640" y="284364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5" name="Image 3" descr="/tmp/assets/icons/shield_teal.png"/>
          <p:cNvPicPr/>
          <p:nvPr/>
        </p:nvPicPr>
        <p:blipFill>
          <a:blip r:embed="rId6"/>
          <a:stretch/>
        </p:blipFill>
        <p:spPr>
          <a:xfrm>
            <a:off x="6420600" y="300060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06" name="Text 17"/>
          <p:cNvSpPr/>
          <p:nvPr/>
        </p:nvSpPr>
        <p:spPr>
          <a:xfrm>
            <a:off x="6236280" y="3557160"/>
            <a:ext cx="2203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74A3B"/>
                </a:solidFill>
                <a:latin typeface="Georgia"/>
                <a:ea typeface="Georgia"/>
              </a:rPr>
              <a:t>Dependable by design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18"/>
          <p:cNvSpPr/>
          <p:nvPr/>
        </p:nvSpPr>
        <p:spPr>
          <a:xfrm>
            <a:off x="6236280" y="3922920"/>
            <a:ext cx="2203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46558"/>
                </a:solidFill>
                <a:latin typeface="Calibri"/>
                <a:ea typeface="Calibri"/>
              </a:rPr>
              <a:t>Sensor fusion and tiered audio keep the system safe even when one channel fails.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19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20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20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52DD7FE3-3AB1-2B69-7574-A5A9A19CCFFC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9275F89F-D8D9-B977-2DAA-DFD12B253DB1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C5624CD-ED40-1C6A-FCD1-1F94CCCB9D45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Conclusion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B7C5E3D-B498-3D12-F8B5-651B7C02847B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</a:t>
            </a:r>
            <a:r>
              <a:rPr lang="en-US" sz="3000" b="1" spc="-1" dirty="0">
                <a:solidFill>
                  <a:srgbClr val="746558"/>
                </a:solidFill>
                <a:latin typeface="Georgia"/>
                <a:ea typeface="Georgia"/>
              </a:rPr>
              <a:t>7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4"/>
          <p:cNvSpPr/>
          <p:nvPr/>
        </p:nvSpPr>
        <p:spPr>
          <a:xfrm>
            <a:off x="502920" y="1417320"/>
            <a:ext cx="260568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5"/>
          <p:cNvSpPr/>
          <p:nvPr/>
        </p:nvSpPr>
        <p:spPr>
          <a:xfrm>
            <a:off x="704160" y="16185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6C8B6"/>
                </a:solidFill>
                <a:latin typeface="Georgia"/>
                <a:ea typeface="Georgia"/>
              </a:rPr>
              <a:t>①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6"/>
          <p:cNvSpPr/>
          <p:nvPr/>
        </p:nvSpPr>
        <p:spPr>
          <a:xfrm>
            <a:off x="2240280" y="165492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7" name="Image 0" descr="/tmp/assets/icons/brain_teal.png"/>
          <p:cNvPicPr/>
          <p:nvPr/>
        </p:nvPicPr>
        <p:blipFill>
          <a:blip r:embed="rId3"/>
          <a:stretch/>
        </p:blipFill>
        <p:spPr>
          <a:xfrm>
            <a:off x="2397240" y="18118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18" name="Text 7"/>
          <p:cNvSpPr/>
          <p:nvPr/>
        </p:nvSpPr>
        <p:spPr>
          <a:xfrm>
            <a:off x="722520" y="2331720"/>
            <a:ext cx="2166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74A3B"/>
                </a:solidFill>
                <a:latin typeface="Georgia"/>
                <a:ea typeface="Georgia"/>
              </a:rPr>
              <a:t>Offline scene Q&amp;A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8"/>
          <p:cNvSpPr/>
          <p:nvPr/>
        </p:nvSpPr>
        <p:spPr>
          <a:xfrm>
            <a:off x="722520" y="2898720"/>
            <a:ext cx="21668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Deploy a small language model on-device for visual question answering without internet better privacy and reliability.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9"/>
          <p:cNvSpPr/>
          <p:nvPr/>
        </p:nvSpPr>
        <p:spPr>
          <a:xfrm>
            <a:off x="3269160" y="1417320"/>
            <a:ext cx="260568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10"/>
          <p:cNvSpPr/>
          <p:nvPr/>
        </p:nvSpPr>
        <p:spPr>
          <a:xfrm>
            <a:off x="3470040" y="16185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6C8B6"/>
                </a:solidFill>
                <a:latin typeface="Georgia"/>
                <a:ea typeface="Georgia"/>
              </a:rPr>
              <a:t>②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1"/>
          <p:cNvSpPr/>
          <p:nvPr/>
        </p:nvSpPr>
        <p:spPr>
          <a:xfrm>
            <a:off x="5006520" y="165492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3" name="Image 1" descr="/tmp/assets/icons/map_teal.png"/>
          <p:cNvPicPr/>
          <p:nvPr/>
        </p:nvPicPr>
        <p:blipFill>
          <a:blip r:embed="rId4"/>
          <a:stretch/>
        </p:blipFill>
        <p:spPr>
          <a:xfrm>
            <a:off x="5163120" y="18118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24" name="Text 12"/>
          <p:cNvSpPr/>
          <p:nvPr/>
        </p:nvSpPr>
        <p:spPr>
          <a:xfrm>
            <a:off x="3488400" y="2331720"/>
            <a:ext cx="2166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GPS / GIS navigation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13"/>
          <p:cNvSpPr/>
          <p:nvPr/>
        </p:nvSpPr>
        <p:spPr>
          <a:xfrm>
            <a:off x="3488400" y="2898720"/>
            <a:ext cx="21668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746558"/>
                </a:solidFill>
                <a:latin typeface="Calibri"/>
                <a:ea typeface="Calibri"/>
              </a:rPr>
              <a:t>Add turn-by-turn outdoor guidance layered on top of real-time obstacle detection.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4"/>
          <p:cNvSpPr/>
          <p:nvPr/>
        </p:nvSpPr>
        <p:spPr>
          <a:xfrm>
            <a:off x="6035040" y="1417320"/>
            <a:ext cx="260568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C2"/>
            </a:solidFill>
            <a:round/>
          </a:ln>
          <a:effectLst>
            <a:outerShdw blurRad="88920" dist="381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15"/>
          <p:cNvSpPr/>
          <p:nvPr/>
        </p:nvSpPr>
        <p:spPr>
          <a:xfrm>
            <a:off x="6236280" y="161856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D6C8B6"/>
                </a:solidFill>
                <a:latin typeface="Georgia"/>
                <a:ea typeface="Georgia"/>
              </a:rPr>
              <a:t>③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6"/>
          <p:cNvSpPr/>
          <p:nvPr/>
        </p:nvSpPr>
        <p:spPr>
          <a:xfrm>
            <a:off x="7772400" y="1654920"/>
            <a:ext cx="603000" cy="60300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9" name="Image 2" descr="/tmp/assets/icons/wave_teal.png"/>
          <p:cNvPicPr/>
          <p:nvPr/>
        </p:nvPicPr>
        <p:blipFill>
          <a:blip r:embed="rId5"/>
          <a:stretch/>
        </p:blipFill>
        <p:spPr>
          <a:xfrm>
            <a:off x="7929360" y="1811880"/>
            <a:ext cx="289440" cy="289440"/>
          </a:xfrm>
          <a:prstGeom prst="rect">
            <a:avLst/>
          </a:prstGeom>
          <a:ln w="0">
            <a:noFill/>
          </a:ln>
        </p:spPr>
      </p:pic>
      <p:sp>
        <p:nvSpPr>
          <p:cNvPr id="530" name="Text 17"/>
          <p:cNvSpPr/>
          <p:nvPr/>
        </p:nvSpPr>
        <p:spPr>
          <a:xfrm>
            <a:off x="6254640" y="2331720"/>
            <a:ext cx="2166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Haptic &amp; bone-conduction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18"/>
          <p:cNvSpPr/>
          <p:nvPr/>
        </p:nvSpPr>
        <p:spPr>
          <a:xfrm>
            <a:off x="6254640" y="2898720"/>
            <a:ext cx="21668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46558"/>
                </a:solidFill>
                <a:latin typeface="Calibri"/>
                <a:ea typeface="Calibri"/>
              </a:rPr>
              <a:t>Vibration cues for obstacle direction; bone-conduction audio that keeps the ears open to the environment.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9"/>
          <p:cNvSpPr/>
          <p:nvPr/>
        </p:nvSpPr>
        <p:spPr>
          <a:xfrm>
            <a:off x="50292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A7D6E"/>
                </a:solidFill>
                <a:latin typeface="Calibri"/>
                <a:ea typeface="Calibri"/>
              </a:rPr>
              <a:t>AI Vision VIAD  ·  Qassim University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20"/>
          <p:cNvSpPr/>
          <p:nvPr/>
        </p:nvSpPr>
        <p:spPr>
          <a:xfrm>
            <a:off x="8092440" y="484632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 dirty="0">
                <a:solidFill>
                  <a:srgbClr val="8A7D6E"/>
                </a:solidFill>
                <a:latin typeface="Calibri"/>
                <a:ea typeface="Calibri"/>
              </a:rPr>
              <a:t>21</a:t>
            </a:r>
            <a:endParaRPr lang="en-US" sz="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C5090AE-A035-F5CF-6AF7-76E439BED98B}"/>
              </a:ext>
            </a:extLst>
          </p:cNvPr>
          <p:cNvSpPr/>
          <p:nvPr/>
        </p:nvSpPr>
        <p:spPr>
          <a:xfrm>
            <a:off x="0" y="0"/>
            <a:ext cx="397565" cy="5143500"/>
          </a:xfrm>
          <a:prstGeom prst="roundRect">
            <a:avLst>
              <a:gd name="adj" fmla="val 26512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726FB432-91BA-C29E-8EE3-FD2A031A25CC}"/>
              </a:ext>
            </a:extLst>
          </p:cNvPr>
          <p:cNvSpPr/>
          <p:nvPr/>
        </p:nvSpPr>
        <p:spPr>
          <a:xfrm>
            <a:off x="502920" y="383152"/>
            <a:ext cx="658080" cy="658080"/>
          </a:xfrm>
          <a:prstGeom prst="ellipse">
            <a:avLst/>
          </a:prstGeom>
          <a:solidFill>
            <a:srgbClr val="ECE5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C3B3641-2FF4-7903-E336-8A794DCDBF61}"/>
              </a:ext>
            </a:extLst>
          </p:cNvPr>
          <p:cNvSpPr/>
          <p:nvPr/>
        </p:nvSpPr>
        <p:spPr>
          <a:xfrm>
            <a:off x="1266355" y="383152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574A3B"/>
                </a:solidFill>
                <a:latin typeface="Georgia"/>
                <a:ea typeface="Georgia"/>
              </a:rPr>
              <a:t>FUTURE WORK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C1FA266-DC6A-C43D-5AC8-4740B77171FA}"/>
              </a:ext>
            </a:extLst>
          </p:cNvPr>
          <p:cNvSpPr/>
          <p:nvPr/>
        </p:nvSpPr>
        <p:spPr>
          <a:xfrm>
            <a:off x="502920" y="3290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746558"/>
                </a:solidFill>
                <a:latin typeface="Georgia"/>
                <a:ea typeface="Georgia"/>
              </a:rPr>
              <a:t>0</a:t>
            </a:r>
            <a:r>
              <a:rPr lang="en-US" sz="3000" b="1" spc="-1" dirty="0">
                <a:solidFill>
                  <a:srgbClr val="746558"/>
                </a:solidFill>
                <a:latin typeface="Georgia"/>
                <a:ea typeface="Georgia"/>
              </a:rPr>
              <a:t>8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4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0"/>
          <p:cNvSpPr/>
          <p:nvPr/>
        </p:nvSpPr>
        <p:spPr>
          <a:xfrm>
            <a:off x="3977640" y="1371600"/>
            <a:ext cx="1188360" cy="1188360"/>
          </a:xfrm>
          <a:prstGeom prst="ellipse">
            <a:avLst/>
          </a:prstGeom>
          <a:solidFill>
            <a:srgbClr val="1F7A8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7" name="Image 0" descr="/tmp/assets/icons/question_white.png"/>
          <p:cNvPicPr/>
          <p:nvPr/>
        </p:nvPicPr>
        <p:blipFill>
          <a:blip r:embed="rId3"/>
          <a:stretch/>
        </p:blipFill>
        <p:spPr>
          <a:xfrm>
            <a:off x="4370760" y="17557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568" name="Text 1"/>
          <p:cNvSpPr/>
          <p:nvPr/>
        </p:nvSpPr>
        <p:spPr>
          <a:xfrm>
            <a:off x="914400" y="2743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Georgia"/>
                <a:ea typeface="Georgia"/>
              </a:rPr>
              <a:t>Questions &amp; Answers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2"/>
          <p:cNvSpPr/>
          <p:nvPr/>
        </p:nvSpPr>
        <p:spPr>
          <a:xfrm>
            <a:off x="914400" y="34290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D6C8B6"/>
                </a:solidFill>
                <a:latin typeface="Calibri"/>
                <a:ea typeface="Calibri"/>
              </a:rPr>
              <a:t>Thank you</a:t>
            </a:r>
            <a:endParaRPr lang="en-US" sz="1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3"/>
          <p:cNvSpPr/>
          <p:nvPr/>
        </p:nvSpPr>
        <p:spPr>
          <a:xfrm>
            <a:off x="914400" y="44348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B8AB9A"/>
                </a:solidFill>
                <a:latin typeface="Calibri"/>
                <a:ea typeface="Calibri"/>
              </a:rPr>
              <a:t>AI Vision VIAD  ·  Qassim University  ·  Department of Computer Science  ·  1447/1448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1448</Words>
  <Application>Microsoft Office PowerPoint</Application>
  <PresentationFormat>On-screen Show (16:9)</PresentationFormat>
  <Paragraphs>304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Georgia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Vision VIAD — Phase 2 Defense</dc:title>
  <dc:subject>PptxGenJS Presentation</dc:subject>
  <dc:creator>AI Vision VIAD Team</dc:creator>
  <dc:description/>
  <cp:lastModifiedBy>RIAN SAAD</cp:lastModifiedBy>
  <cp:revision>4</cp:revision>
  <dcterms:created xsi:type="dcterms:W3CDTF">2026-06-07T08:19:31Z</dcterms:created>
  <dcterms:modified xsi:type="dcterms:W3CDTF">2026-06-11T09:27:59Z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20</vt:r8>
  </property>
  <property fmtid="{D5CDD505-2E9C-101B-9397-08002B2CF9AE}" pid="3" name="PresentationFormat">
    <vt:lpwstr>On-screen Show (16:9)</vt:lpwstr>
  </property>
  <property fmtid="{D5CDD505-2E9C-101B-9397-08002B2CF9AE}" pid="4" name="Slides">
    <vt:r8>20</vt:r8>
  </property>
</Properties>
</file>